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Class</c:v>
                </c:pt>
              </c:strCache>
            </c:strRef>
          </c:tx>
          <c:spPr>
            <a:solidFill>
              <a:schemeClr val="accent1"/>
            </a:solidFill>
            <a:ln w="9525" cap="flat">
              <a:solidFill>
                <a:srgbClr val="F9F9F9"/>
              </a:solidFill>
              <a:prstDash val="solid"/>
              <a:round/>
            </a:ln>
            <a:effectLst/>
          </c:spPr>
          <c:dPt>
            <c:idx val="0"/>
            <c:bubble3D val="0"/>
            <c:spPr>
              <a:solidFill>
                <a:srgbClr val="D5DEEF"/>
              </a:solidFill>
              <a:ln w="9525" cap="flat">
                <a:solidFill>
                  <a:srgbClr val="FFFFFF"/>
                </a:solidFill>
                <a:prstDash val="solid"/>
                <a:round/>
              </a:ln>
              <a:effectLst/>
            </c:spPr>
            <c:extLst>
              <c:ext xmlns:c16="http://schemas.microsoft.com/office/drawing/2014/chart" uri="{C3380CC4-5D6E-409C-BE32-E72D297353CC}">
                <c16:uniqueId val="{00000001-9FC8-4944-AA4A-9EC6112069A9}"/>
              </c:ext>
            </c:extLst>
          </c:dPt>
          <c:dPt>
            <c:idx val="1"/>
            <c:bubble3D val="0"/>
            <c:spPr>
              <a:solidFill>
                <a:srgbClr val="D0021B"/>
              </a:solidFill>
              <a:ln w="9525" cap="flat">
                <a:solidFill>
                  <a:srgbClr val="FFFFFF"/>
                </a:solidFill>
                <a:prstDash val="solid"/>
                <a:round/>
              </a:ln>
              <a:effectLst/>
            </c:spPr>
            <c:extLst>
              <c:ext xmlns:c16="http://schemas.microsoft.com/office/drawing/2014/chart" uri="{C3380CC4-5D6E-409C-BE32-E72D297353CC}">
                <c16:uniqueId val="{00000003-9FC8-4944-AA4A-9EC6112069A9}"/>
              </c:ext>
            </c:extLst>
          </c:dPt>
          <c:cat>
            <c:strRef>
              <c:f>Sheet1!$A$2:$A$3</c:f>
              <c:strCache>
                <c:ptCount val="2"/>
                <c:pt idx="0">
                  <c:v>Legitimate</c:v>
                </c:pt>
                <c:pt idx="1">
                  <c:v>Fraud</c:v>
                </c:pt>
              </c:strCache>
            </c:strRef>
          </c:cat>
          <c:val>
            <c:numRef>
              <c:f>Sheet1!$B$2:$B$3</c:f>
              <c:numCache>
                <c:formatCode>General</c:formatCode>
                <c:ptCount val="2"/>
                <c:pt idx="0">
                  <c:v>635413</c:v>
                </c:pt>
                <c:pt idx="1">
                  <c:v>849</c:v>
                </c:pt>
              </c:numCache>
            </c:numRef>
          </c:val>
          <c:extLst>
            <c:ext xmlns:c16="http://schemas.microsoft.com/office/drawing/2014/chart" uri="{C3380CC4-5D6E-409C-BE32-E72D297353CC}">
              <c16:uniqueId val="{00000004-9FC8-4944-AA4A-9EC6112069A9}"/>
            </c:ext>
          </c:extLst>
        </c:ser>
        <c:dLbls>
          <c:showLegendKey val="0"/>
          <c:showVal val="0"/>
          <c:showCatName val="0"/>
          <c:showSerName val="0"/>
          <c:showPercent val="0"/>
          <c:showBubbleSize val="0"/>
          <c:showLeaderLines val="0"/>
        </c:dLbls>
        <c:firstSliceAng val="0"/>
        <c:holeSize val="62"/>
      </c:doughnutChart>
      <c:spPr>
        <a:noFill/>
        <a:ln>
          <a:noFill/>
        </a:ln>
        <a:effectLst/>
      </c:spPr>
    </c:plotArea>
    <c:legend>
      <c:legendPos val="b"/>
      <c:overlay val="0"/>
      <c:txPr>
        <a:bodyPr/>
        <a:lstStyle/>
        <a:p>
          <a:pPr>
            <a:defRPr sz="1100">
              <a:solidFill>
                <a:srgbClr val="4A4F57"/>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Fraud rate %</c:v>
                </c:pt>
              </c:strCache>
            </c:strRef>
          </c:tx>
          <c:spPr>
            <a:solidFill>
              <a:srgbClr val="0033A1"/>
            </a:solidFill>
            <a:effectLst/>
          </c:spPr>
          <c:invertIfNegative val="0"/>
          <c:dLbls>
            <c:numFmt formatCode="0.00&quot;%&quot;" sourceLinked="0"/>
            <c:spPr>
              <a:noFill/>
              <a:ln>
                <a:noFill/>
              </a:ln>
              <a:effectLst/>
            </c:spPr>
            <c:txPr>
              <a:bodyPr/>
              <a:lstStyle/>
              <a:p>
                <a:pPr>
                  <a:defRPr sz="11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TRANSFER</c:v>
                </c:pt>
                <c:pt idx="1">
                  <c:v>CASH_OUT</c:v>
                </c:pt>
                <c:pt idx="2">
                  <c:v>PAYMENT</c:v>
                </c:pt>
                <c:pt idx="3">
                  <c:v>CASH_IN</c:v>
                </c:pt>
                <c:pt idx="4">
                  <c:v>DEBIT</c:v>
                </c:pt>
              </c:strCache>
            </c:strRef>
          </c:cat>
          <c:val>
            <c:numRef>
              <c:f>Sheet1!$B$2:$B$6</c:f>
              <c:numCache>
                <c:formatCode>General</c:formatCode>
                <c:ptCount val="5"/>
                <c:pt idx="0">
                  <c:v>0.81100000000000005</c:v>
                </c:pt>
                <c:pt idx="1">
                  <c:v>0.186</c:v>
                </c:pt>
                <c:pt idx="2">
                  <c:v>0</c:v>
                </c:pt>
                <c:pt idx="3">
                  <c:v>0</c:v>
                </c:pt>
                <c:pt idx="4">
                  <c:v>0</c:v>
                </c:pt>
              </c:numCache>
            </c:numRef>
          </c:val>
          <c:extLst>
            <c:ext xmlns:c16="http://schemas.microsoft.com/office/drawing/2014/chart" uri="{C3380CC4-5D6E-409C-BE32-E72D297353CC}">
              <c16:uniqueId val="{00000000-37CF-49D5-B8A8-2CD3E0026BC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b"/>
        <c:majorGridlines>
          <c:spPr>
            <a:ln w="12700" cap="flat">
              <a:solidFill>
                <a:srgbClr val="D5DE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4F57"/>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PR-AUC</c:v>
                </c:pt>
              </c:strCache>
            </c:strRef>
          </c:tx>
          <c:spPr>
            <a:solidFill>
              <a:srgbClr val="AAAAAA"/>
            </a:solidFill>
            <a:effectLst/>
          </c:spPr>
          <c:invertIfNegative val="0"/>
          <c:dPt>
            <c:idx val="0"/>
            <c:invertIfNegative val="0"/>
            <c:bubble3D val="0"/>
            <c:extLst>
              <c:ext xmlns:c16="http://schemas.microsoft.com/office/drawing/2014/chart" uri="{C3380CC4-5D6E-409C-BE32-E72D297353CC}">
                <c16:uniqueId val="{00000001-D444-4804-B729-101F849B9F8F}"/>
              </c:ext>
            </c:extLst>
          </c:dPt>
          <c:dPt>
            <c:idx val="1"/>
            <c:invertIfNegative val="0"/>
            <c:bubble3D val="0"/>
            <c:spPr>
              <a:solidFill>
                <a:srgbClr val="1E7B4D"/>
              </a:solidFill>
              <a:effectLst/>
            </c:spPr>
            <c:extLst>
              <c:ext xmlns:c16="http://schemas.microsoft.com/office/drawing/2014/chart" uri="{C3380CC4-5D6E-409C-BE32-E72D297353CC}">
                <c16:uniqueId val="{00000003-D444-4804-B729-101F849B9F8F}"/>
              </c:ext>
            </c:extLst>
          </c:dPt>
          <c:dPt>
            <c:idx val="2"/>
            <c:invertIfNegative val="0"/>
            <c:bubble3D val="0"/>
            <c:spPr>
              <a:solidFill>
                <a:srgbClr val="D0021B"/>
              </a:solidFill>
              <a:effectLst/>
            </c:spPr>
            <c:extLst>
              <c:ext xmlns:c16="http://schemas.microsoft.com/office/drawing/2014/chart" uri="{C3380CC4-5D6E-409C-BE32-E72D297353CC}">
                <c16:uniqueId val="{00000005-D444-4804-B729-101F849B9F8F}"/>
              </c:ext>
            </c:extLst>
          </c:dPt>
          <c:dLbls>
            <c:numFmt formatCode="0.000" sourceLinked="0"/>
            <c:spPr>
              <a:noFill/>
              <a:ln>
                <a:noFill/>
              </a:ln>
              <a:effectLst/>
            </c:spPr>
            <c:txPr>
              <a:bodyPr/>
              <a:lstStyle/>
              <a:p>
                <a:pPr>
                  <a:defRPr sz="12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Basic features</c:v>
                </c:pt>
                <c:pt idx="1">
                  <c:v>With balances (chosen)</c:v>
                </c:pt>
                <c:pt idx="2">
                  <c:v>With balance errors (rejected)</c:v>
                </c:pt>
              </c:strCache>
            </c:strRef>
          </c:cat>
          <c:val>
            <c:numRef>
              <c:f>Sheet1!$B$2:$B$4</c:f>
              <c:numCache>
                <c:formatCode>General</c:formatCode>
                <c:ptCount val="3"/>
                <c:pt idx="0">
                  <c:v>0.27800000000000002</c:v>
                </c:pt>
                <c:pt idx="1">
                  <c:v>0.83199999999999996</c:v>
                </c:pt>
                <c:pt idx="2">
                  <c:v>0.98899999999999999</c:v>
                </c:pt>
              </c:numCache>
            </c:numRef>
          </c:val>
          <c:extLst>
            <c:ext xmlns:c16="http://schemas.microsoft.com/office/drawing/2014/chart" uri="{C3380CC4-5D6E-409C-BE32-E72D297353CC}">
              <c16:uniqueId val="{00000006-D444-4804-B729-101F849B9F8F}"/>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max val="1.1000000000000001"/>
        </c:scaling>
        <c:delete val="0"/>
        <c:axPos val="b"/>
        <c:majorGridlines>
          <c:spPr>
            <a:ln w="12700" cap="flat">
              <a:solidFill>
                <a:srgbClr val="D5DE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4F57"/>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Total cost</c:v>
                </c:pt>
              </c:strCache>
            </c:strRef>
          </c:tx>
          <c:spPr>
            <a:solidFill>
              <a:srgbClr val="D0021B"/>
            </a:solidFill>
            <a:effectLst/>
          </c:spPr>
          <c:invertIfNegative val="0"/>
          <c:dPt>
            <c:idx val="0"/>
            <c:invertIfNegative val="0"/>
            <c:bubble3D val="0"/>
            <c:extLst>
              <c:ext xmlns:c16="http://schemas.microsoft.com/office/drawing/2014/chart" uri="{C3380CC4-5D6E-409C-BE32-E72D297353CC}">
                <c16:uniqueId val="{00000001-F4E7-46C5-A13A-B938D9F877E5}"/>
              </c:ext>
            </c:extLst>
          </c:dPt>
          <c:dPt>
            <c:idx val="1"/>
            <c:invertIfNegative val="0"/>
            <c:bubble3D val="0"/>
            <c:spPr>
              <a:solidFill>
                <a:srgbClr val="0033A1"/>
              </a:solidFill>
              <a:effectLst/>
            </c:spPr>
            <c:extLst>
              <c:ext xmlns:c16="http://schemas.microsoft.com/office/drawing/2014/chart" uri="{C3380CC4-5D6E-409C-BE32-E72D297353CC}">
                <c16:uniqueId val="{00000003-F4E7-46C5-A13A-B938D9F877E5}"/>
              </c:ext>
            </c:extLst>
          </c:dPt>
          <c:dPt>
            <c:idx val="2"/>
            <c:invertIfNegative val="0"/>
            <c:bubble3D val="0"/>
            <c:spPr>
              <a:solidFill>
                <a:srgbClr val="1E7B4D"/>
              </a:solidFill>
              <a:effectLst/>
            </c:spPr>
            <c:extLst>
              <c:ext xmlns:c16="http://schemas.microsoft.com/office/drawing/2014/chart" uri="{C3380CC4-5D6E-409C-BE32-E72D297353CC}">
                <c16:uniqueId val="{00000005-F4E7-46C5-A13A-B938D9F877E5}"/>
              </c:ext>
            </c:extLst>
          </c:dPt>
          <c:dLbls>
            <c:numFmt formatCode="&quot;R&quot;#,##0" sourceLinked="0"/>
            <c:spPr>
              <a:noFill/>
              <a:ln>
                <a:noFill/>
              </a:ln>
              <a:effectLst/>
            </c:spPr>
            <c:txPr>
              <a:bodyPr/>
              <a:lstStyle/>
              <a:p>
                <a:pPr>
                  <a:defRPr sz="12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model at all</c:v>
                </c:pt>
                <c:pt idx="1">
                  <c:v>Best F1 balance</c:v>
                </c:pt>
                <c:pt idx="2">
                  <c:v>Lowest business cost</c:v>
                </c:pt>
              </c:strCache>
            </c:strRef>
          </c:cat>
          <c:val>
            <c:numRef>
              <c:f>Sheet1!$B$2:$B$4</c:f>
              <c:numCache>
                <c:formatCode>General</c:formatCode>
                <c:ptCount val="3"/>
                <c:pt idx="0">
                  <c:v>1275000</c:v>
                </c:pt>
                <c:pt idx="1">
                  <c:v>370850</c:v>
                </c:pt>
                <c:pt idx="2">
                  <c:v>125800</c:v>
                </c:pt>
              </c:numCache>
            </c:numRef>
          </c:val>
          <c:extLst>
            <c:ext xmlns:c16="http://schemas.microsoft.com/office/drawing/2014/chart" uri="{C3380CC4-5D6E-409C-BE32-E72D297353CC}">
              <c16:uniqueId val="{00000006-F4E7-46C5-A13A-B938D9F877E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D5DEE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4F57"/>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5898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FinTech Titans. Fraud here is one transaction in every 750, and that rarity shaped every decision we made.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meaningless at this base rate. We judge on PR-AUC and on money. Note we rejected SMOTE, which our Phase 1 plan had proposed.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only ever appears in transfers and cash outs. Transfer carries four times the rate and is the first leg, so stopping it prevents the loss outright.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customers go quiet. Criminals do not. We deliberately avoid naming clock hours because the dataset never states when it began.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most important finding. We measured the leak rather than hiding it, and chose the middle option, which uses only information available at the moment of decision.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is the baseline. Running three feature sets means we can see exactly where every gain comes from rather than quoting one number with no context.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wins on every feature set. The baseline genuinely struggles, which justifies moving to tree ensembles rather than assuming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would have been easy to spend the whole project on parameter tuning and gain nothing. We report this ordering deliberately.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features, all computable before settlement. Explainability was also a diagnostic: it is how we proved the leaked columns were dominating the third feature set.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linger on. Precision of 0.19 looks bad until you price it. The two mistakes are not equally expensive.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recommendation traces to a number in the report. The first alone removes more than half the scoring load.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leak. It is the finding that separates this submission from one that reports 0.99 and stops.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A1"/>
        </a:solidFill>
        <a:effectLst/>
      </p:bgPr>
    </p:bg>
    <p:spTree>
      <p:nvGrpSpPr>
        <p:cNvPr id="1" name=""/>
        <p:cNvGrpSpPr/>
        <p:nvPr/>
      </p:nvGrpSpPr>
      <p:grpSpPr>
        <a:xfrm>
          <a:off x="0" y="0"/>
          <a:ext cx="0" cy="0"/>
          <a:chOff x="0" y="0"/>
          <a:chExt cx="0" cy="0"/>
        </a:xfrm>
      </p:grpSpPr>
      <p:sp>
        <p:nvSpPr>
          <p:cNvPr id="2" name="Text 0"/>
          <p:cNvSpPr/>
          <p:nvPr/>
        </p:nvSpPr>
        <p:spPr>
          <a:xfrm>
            <a:off x="914400" y="1600200"/>
            <a:ext cx="10058400" cy="274320"/>
          </a:xfrm>
          <a:prstGeom prst="rect">
            <a:avLst/>
          </a:prstGeom>
          <a:noFill/>
          <a:ln/>
        </p:spPr>
        <p:txBody>
          <a:bodyPr wrap="square" rtlCol="0" anchor="ctr"/>
          <a:lstStyle/>
          <a:p>
            <a:pPr marL="0" indent="0">
              <a:buNone/>
            </a:pPr>
            <a:r>
              <a:rPr lang="en-US" sz="1300" b="1" kern="0" spc="200" dirty="0">
                <a:solidFill>
                  <a:srgbClr val="A8C0F0"/>
                </a:solidFill>
                <a:latin typeface="Calibri" pitchFamily="34" charset="0"/>
                <a:ea typeface="Calibri" pitchFamily="34" charset="-122"/>
                <a:cs typeface="Calibri" pitchFamily="34" charset="-120"/>
              </a:rPr>
              <a:t>STANDARD BANK  |  FINANCE HACKATHON</a:t>
            </a:r>
            <a:endParaRPr lang="en-US" sz="1300" dirty="0"/>
          </a:p>
        </p:txBody>
      </p:sp>
      <p:sp>
        <p:nvSpPr>
          <p:cNvPr id="3" name="Text 1"/>
          <p:cNvSpPr/>
          <p:nvPr/>
        </p:nvSpPr>
        <p:spPr>
          <a:xfrm>
            <a:off x="914400" y="2011680"/>
            <a:ext cx="10515600" cy="91440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Catching Fraud in Mobile Money</a:t>
            </a:r>
            <a:endParaRPr lang="en-US" sz="4600" dirty="0"/>
          </a:p>
        </p:txBody>
      </p:sp>
      <p:sp>
        <p:nvSpPr>
          <p:cNvPr id="4" name="Text 2"/>
          <p:cNvSpPr/>
          <p:nvPr/>
        </p:nvSpPr>
        <p:spPr>
          <a:xfrm>
            <a:off x="914400" y="2944368"/>
            <a:ext cx="10058400" cy="365760"/>
          </a:xfrm>
          <a:prstGeom prst="rect">
            <a:avLst/>
          </a:prstGeom>
          <a:noFill/>
          <a:ln/>
        </p:spPr>
        <p:txBody>
          <a:bodyPr wrap="square" rtlCol="0" anchor="ctr"/>
          <a:lstStyle/>
          <a:p>
            <a:pPr marL="0" indent="0">
              <a:buNone/>
            </a:pPr>
            <a:r>
              <a:rPr lang="en-US" sz="1800" dirty="0">
                <a:solidFill>
                  <a:srgbClr val="D7E2F7"/>
                </a:solidFill>
                <a:latin typeface="Calibri" pitchFamily="34" charset="0"/>
                <a:ea typeface="Calibri" pitchFamily="34" charset="-122"/>
                <a:cs typeface="Calibri" pitchFamily="34" charset="-120"/>
              </a:rPr>
              <a:t>From data audit to a deployable, explainable model</a:t>
            </a:r>
            <a:endParaRPr lang="en-US" sz="1800" dirty="0"/>
          </a:p>
        </p:txBody>
      </p:sp>
      <p:sp>
        <p:nvSpPr>
          <p:cNvPr id="5" name="Shape 3"/>
          <p:cNvSpPr/>
          <p:nvPr/>
        </p:nvSpPr>
        <p:spPr>
          <a:xfrm>
            <a:off x="914400" y="3611880"/>
            <a:ext cx="2926080" cy="0"/>
          </a:xfrm>
          <a:prstGeom prst="line">
            <a:avLst/>
          </a:prstGeom>
          <a:noFill/>
          <a:ln w="38100">
            <a:solidFill>
              <a:srgbClr val="D0021B"/>
            </a:solidFill>
            <a:prstDash val="solid"/>
          </a:ln>
        </p:spPr>
        <p:txBody>
          <a:bodyPr/>
          <a:lstStyle/>
          <a:p>
            <a:endParaRPr lang="en-US"/>
          </a:p>
        </p:txBody>
      </p:sp>
      <p:sp>
        <p:nvSpPr>
          <p:cNvPr id="6" name="Text 4"/>
          <p:cNvSpPr/>
          <p:nvPr/>
        </p:nvSpPr>
        <p:spPr>
          <a:xfrm>
            <a:off x="914400" y="3794760"/>
            <a:ext cx="7315200" cy="4572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FinTech Titans</a:t>
            </a:r>
            <a:endParaRPr lang="en-US" sz="2800" dirty="0"/>
          </a:p>
        </p:txBody>
      </p:sp>
      <p:sp>
        <p:nvSpPr>
          <p:cNvPr id="7" name="Text 5"/>
          <p:cNvSpPr/>
          <p:nvPr/>
        </p:nvSpPr>
        <p:spPr>
          <a:xfrm>
            <a:off x="914400" y="4572000"/>
            <a:ext cx="105156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636,262 transactions</a:t>
            </a:r>
            <a:r>
              <a:rPr lang="en-US" sz="1400" dirty="0">
                <a:solidFill>
                  <a:srgbClr val="A8C0F0"/>
                </a:solidFill>
                <a:latin typeface="Calibri" pitchFamily="34" charset="0"/>
                <a:ea typeface="Calibri" pitchFamily="34" charset="-122"/>
                <a:cs typeface="Calibri" pitchFamily="34" charset="-120"/>
              </a:rPr>
              <a:t>   |   849 fraud cases   |   0.13% fraud rate   |   4 models tested</a:t>
            </a:r>
            <a:endParaRPr lang="en-US" sz="1400" dirty="0"/>
          </a:p>
        </p:txBody>
      </p:sp>
      <p:sp>
        <p:nvSpPr>
          <p:cNvPr id="8" name="Text 6"/>
          <p:cNvSpPr/>
          <p:nvPr/>
        </p:nvSpPr>
        <p:spPr>
          <a:xfrm>
            <a:off x="914400" y="5029200"/>
            <a:ext cx="10515600" cy="320040"/>
          </a:xfrm>
          <a:prstGeom prst="rect">
            <a:avLst/>
          </a:prstGeom>
          <a:noFill/>
          <a:ln/>
        </p:spPr>
        <p:txBody>
          <a:bodyPr wrap="square" rtlCol="0" anchor="ctr"/>
          <a:lstStyle/>
          <a:p>
            <a:pPr marL="0" indent="0">
              <a:buNone/>
            </a:pPr>
            <a:r>
              <a:rPr lang="en-US" sz="1300" dirty="0">
                <a:solidFill>
                  <a:srgbClr val="D7E2F7"/>
                </a:solidFill>
                <a:latin typeface="Calibri" pitchFamily="34" charset="0"/>
                <a:ea typeface="Calibri" pitchFamily="34" charset="-122"/>
                <a:cs typeface="Calibri" pitchFamily="34" charset="-120"/>
              </a:rPr>
              <a:t>Project complete. Notebook, dashboard and report delivered.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994392" cy="548640"/>
          </a:xfrm>
          <a:prstGeom prst="rect">
            <a:avLst/>
          </a:prstGeom>
          <a:noFill/>
          <a:ln/>
        </p:spPr>
        <p:txBody>
          <a:bodyPr wrap="square" rtlCol="0" anchor="ctr"/>
          <a:lstStyle/>
          <a:p>
            <a:pPr marL="0" indent="0">
              <a:buNone/>
            </a:pPr>
            <a:r>
              <a:rPr lang="en-US" sz="3000" b="1" dirty="0">
                <a:solidFill>
                  <a:srgbClr val="0033A1"/>
                </a:solidFill>
                <a:latin typeface="Cambria" pitchFamily="34" charset="0"/>
                <a:ea typeface="Cambria" pitchFamily="34" charset="-122"/>
                <a:cs typeface="Cambria" pitchFamily="34" charset="-120"/>
              </a:rPr>
              <a:t>The Core Challenge</a:t>
            </a:r>
            <a:endParaRPr lang="en-US" sz="3000" dirty="0"/>
          </a:p>
        </p:txBody>
      </p:sp>
      <p:sp>
        <p:nvSpPr>
          <p:cNvPr id="3" name="Text 1"/>
          <p:cNvSpPr/>
          <p:nvPr/>
        </p:nvSpPr>
        <p:spPr>
          <a:xfrm>
            <a:off x="640080" y="941832"/>
            <a:ext cx="9994392" cy="310896"/>
          </a:xfrm>
          <a:prstGeom prst="rect">
            <a:avLst/>
          </a:prstGeom>
          <a:noFill/>
          <a:ln/>
        </p:spPr>
        <p:txBody>
          <a:bodyPr wrap="square" rtlCol="0" anchor="ctr"/>
          <a:lstStyle/>
          <a:p>
            <a:pPr marL="0" indent="0">
              <a:buNone/>
            </a:pPr>
            <a:r>
              <a:rPr lang="en-US" sz="1400" dirty="0">
                <a:solidFill>
                  <a:srgbClr val="4A4F57"/>
                </a:solidFill>
                <a:latin typeface="Calibri" pitchFamily="34" charset="0"/>
                <a:ea typeface="Calibri" pitchFamily="34" charset="-122"/>
                <a:cs typeface="Calibri" pitchFamily="34" charset="-120"/>
              </a:rPr>
              <a:t>Why the obvious metric is the wrong one</a:t>
            </a:r>
            <a:endParaRPr lang="en-US" sz="1400" dirty="0"/>
          </a:p>
        </p:txBody>
      </p:sp>
      <p:sp>
        <p:nvSpPr>
          <p:cNvPr id="4" name="Text 2"/>
          <p:cNvSpPr/>
          <p:nvPr/>
        </p:nvSpPr>
        <p:spPr>
          <a:xfrm>
            <a:off x="10725912" y="384048"/>
            <a:ext cx="822960" cy="457200"/>
          </a:xfrm>
          <a:prstGeom prst="rect">
            <a:avLst/>
          </a:prstGeom>
          <a:noFill/>
          <a:ln/>
        </p:spPr>
        <p:txBody>
          <a:bodyPr wrap="square" rtlCol="0" anchor="ctr"/>
          <a:lstStyle/>
          <a:p>
            <a:pPr marL="0" indent="0" algn="r">
              <a:buNone/>
            </a:pPr>
            <a:r>
              <a:rPr lang="en-US" sz="2600" b="1" dirty="0">
                <a:solidFill>
                  <a:srgbClr val="D5DEEF"/>
                </a:solidFill>
                <a:latin typeface="Cambria" pitchFamily="34" charset="0"/>
                <a:ea typeface="Cambria" pitchFamily="34" charset="-122"/>
                <a:cs typeface="Cambria" pitchFamily="34" charset="-120"/>
              </a:rPr>
              <a:t>02</a:t>
            </a:r>
            <a:endParaRPr lang="en-US" sz="2600" dirty="0"/>
          </a:p>
        </p:txBody>
      </p:sp>
      <p:sp>
        <p:nvSpPr>
          <p:cNvPr id="5" name="Text 3"/>
          <p:cNvSpPr/>
          <p:nvPr/>
        </p:nvSpPr>
        <p:spPr>
          <a:xfrm>
            <a:off x="640080" y="6437376"/>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FinTech Titans  |  Catching Fraud in Mobile Money</a:t>
            </a:r>
            <a:endParaRPr lang="en-US" sz="900" dirty="0"/>
          </a:p>
        </p:txBody>
      </p:sp>
      <p:graphicFrame>
        <p:nvGraphicFramePr>
          <p:cNvPr id="6" name="Chart 0"/>
          <p:cNvGraphicFramePr/>
          <p:nvPr/>
        </p:nvGraphicFramePr>
        <p:xfrm>
          <a:off x="548640" y="1508760"/>
          <a:ext cx="429768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1188720" y="2852928"/>
            <a:ext cx="3017520" cy="548640"/>
          </a:xfrm>
          <a:prstGeom prst="rect">
            <a:avLst/>
          </a:prstGeom>
          <a:noFill/>
          <a:ln/>
        </p:spPr>
        <p:txBody>
          <a:bodyPr wrap="square" rtlCol="0" anchor="ctr"/>
          <a:lstStyle/>
          <a:p>
            <a:pPr marL="0" indent="0" algn="ctr">
              <a:buNone/>
            </a:pPr>
            <a:r>
              <a:rPr lang="en-US" sz="3000" b="1" dirty="0">
                <a:solidFill>
                  <a:srgbClr val="0033A1"/>
                </a:solidFill>
                <a:latin typeface="Cambria" pitchFamily="34" charset="0"/>
                <a:ea typeface="Cambria" pitchFamily="34" charset="-122"/>
                <a:cs typeface="Cambria" pitchFamily="34" charset="-120"/>
              </a:rPr>
              <a:t>0.13%</a:t>
            </a:r>
            <a:endParaRPr lang="en-US" sz="3000" dirty="0"/>
          </a:p>
        </p:txBody>
      </p:sp>
      <p:sp>
        <p:nvSpPr>
          <p:cNvPr id="8" name="Text 5"/>
          <p:cNvSpPr/>
          <p:nvPr/>
        </p:nvSpPr>
        <p:spPr>
          <a:xfrm>
            <a:off x="1188720" y="3383280"/>
            <a:ext cx="3017520" cy="274320"/>
          </a:xfrm>
          <a:prstGeom prst="rect">
            <a:avLst/>
          </a:prstGeom>
          <a:noFill/>
          <a:ln/>
        </p:spPr>
        <p:txBody>
          <a:bodyPr wrap="square" rtlCol="0" anchor="ctr"/>
          <a:lstStyle/>
          <a:p>
            <a:pPr marL="0" indent="0" algn="ctr">
              <a:buNone/>
            </a:pPr>
            <a:r>
              <a:rPr lang="en-US" sz="1100" dirty="0">
                <a:solidFill>
                  <a:srgbClr val="4A4F57"/>
                </a:solidFill>
                <a:latin typeface="Calibri" pitchFamily="34" charset="0"/>
                <a:ea typeface="Calibri" pitchFamily="34" charset="-122"/>
                <a:cs typeface="Calibri" pitchFamily="34" charset="-120"/>
              </a:rPr>
              <a:t>of all records</a:t>
            </a:r>
            <a:endParaRPr lang="en-US" sz="1100" dirty="0"/>
          </a:p>
        </p:txBody>
      </p:sp>
      <p:sp>
        <p:nvSpPr>
          <p:cNvPr id="9" name="Shape 6"/>
          <p:cNvSpPr/>
          <p:nvPr/>
        </p:nvSpPr>
        <p:spPr>
          <a:xfrm>
            <a:off x="5303520" y="1554480"/>
            <a:ext cx="6217920" cy="1371600"/>
          </a:xfrm>
          <a:prstGeom prst="roundRect">
            <a:avLst>
              <a:gd name="adj" fmla="val 3333"/>
            </a:avLst>
          </a:prstGeom>
          <a:solidFill>
            <a:srgbClr val="F2F5FB"/>
          </a:solidFill>
          <a:ln w="12700">
            <a:solidFill>
              <a:srgbClr val="D5DEEF"/>
            </a:solidFill>
            <a:prstDash val="solid"/>
          </a:ln>
        </p:spPr>
        <p:txBody>
          <a:bodyPr/>
          <a:lstStyle/>
          <a:p>
            <a:endParaRPr lang="en-US"/>
          </a:p>
        </p:txBody>
      </p:sp>
      <p:sp>
        <p:nvSpPr>
          <p:cNvPr id="10" name="Text 7"/>
          <p:cNvSpPr/>
          <p:nvPr/>
        </p:nvSpPr>
        <p:spPr>
          <a:xfrm>
            <a:off x="5532120" y="1709928"/>
            <a:ext cx="5760720" cy="292608"/>
          </a:xfrm>
          <a:prstGeom prst="rect">
            <a:avLst/>
          </a:prstGeom>
          <a:noFill/>
          <a:ln/>
        </p:spPr>
        <p:txBody>
          <a:bodyPr wrap="square" rtlCol="0" anchor="ctr"/>
          <a:lstStyle/>
          <a:p>
            <a:pPr marL="0" indent="0">
              <a:buNone/>
            </a:pPr>
            <a:r>
              <a:rPr lang="en-US" sz="1500" b="1" dirty="0">
                <a:solidFill>
                  <a:srgbClr val="D0021B"/>
                </a:solidFill>
                <a:latin typeface="Calibri" pitchFamily="34" charset="0"/>
                <a:ea typeface="Calibri" pitchFamily="34" charset="-122"/>
                <a:cs typeface="Calibri" pitchFamily="34" charset="-120"/>
              </a:rPr>
              <a:t>The accuracy trap</a:t>
            </a:r>
            <a:endParaRPr lang="en-US" sz="1500" dirty="0"/>
          </a:p>
        </p:txBody>
      </p:sp>
      <p:sp>
        <p:nvSpPr>
          <p:cNvPr id="11" name="Text 8"/>
          <p:cNvSpPr/>
          <p:nvPr/>
        </p:nvSpPr>
        <p:spPr>
          <a:xfrm>
            <a:off x="5532120" y="2029968"/>
            <a:ext cx="5760720" cy="82296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A model that approves every single transaction scores 99.87 percent accuracy and catches zero fraud. Accuracy is excluded from our scorecard entirely.</a:t>
            </a:r>
            <a:endParaRPr lang="en-US" sz="1300" dirty="0"/>
          </a:p>
        </p:txBody>
      </p:sp>
      <p:sp>
        <p:nvSpPr>
          <p:cNvPr id="12" name="Text 9"/>
          <p:cNvSpPr/>
          <p:nvPr/>
        </p:nvSpPr>
        <p:spPr>
          <a:xfrm>
            <a:off x="5303520" y="3127248"/>
            <a:ext cx="6217920" cy="292608"/>
          </a:xfrm>
          <a:prstGeom prst="rect">
            <a:avLst/>
          </a:prstGeom>
          <a:noFill/>
          <a:ln/>
        </p:spPr>
        <p:txBody>
          <a:bodyPr wrap="square" rtlCol="0" anchor="ctr"/>
          <a:lstStyle/>
          <a:p>
            <a:pPr marL="0" indent="0">
              <a:buNone/>
            </a:pPr>
            <a:r>
              <a:rPr lang="en-US" sz="1500" b="1" dirty="0">
                <a:solidFill>
                  <a:srgbClr val="0033A1"/>
                </a:solidFill>
                <a:latin typeface="Calibri" pitchFamily="34" charset="0"/>
                <a:ea typeface="Calibri" pitchFamily="34" charset="-122"/>
                <a:cs typeface="Calibri" pitchFamily="34" charset="-120"/>
              </a:rPr>
              <a:t>What we measure instead</a:t>
            </a:r>
            <a:endParaRPr lang="en-US" sz="1500" dirty="0"/>
          </a:p>
        </p:txBody>
      </p:sp>
      <p:sp>
        <p:nvSpPr>
          <p:cNvPr id="13" name="Text 10"/>
          <p:cNvSpPr/>
          <p:nvPr/>
        </p:nvSpPr>
        <p:spPr>
          <a:xfrm>
            <a:off x="5303520" y="3493008"/>
            <a:ext cx="6217920" cy="1188720"/>
          </a:xfrm>
          <a:prstGeom prst="rect">
            <a:avLst/>
          </a:prstGeom>
          <a:noFill/>
          <a:ln/>
        </p:spPr>
        <p:txBody>
          <a:bodyPr wrap="square" rtlCol="0" anchor="ctr"/>
          <a:lstStyle/>
          <a:p>
            <a:pPr marL="0" indent="0">
              <a:lnSpc>
                <a:spcPts val="2300"/>
              </a:lnSpc>
              <a:buNone/>
            </a:pPr>
            <a:r>
              <a:rPr lang="en-US" sz="1300" b="1" dirty="0">
                <a:solidFill>
                  <a:srgbClr val="1A1A1A"/>
                </a:solidFill>
                <a:latin typeface="Calibri" pitchFamily="34" charset="0"/>
                <a:ea typeface="Calibri" pitchFamily="34" charset="-122"/>
                <a:cs typeface="Calibri" pitchFamily="34" charset="-120"/>
              </a:rPr>
              <a:t>PR-AUC</a:t>
            </a:r>
            <a:r>
              <a:rPr lang="en-US" sz="1300" dirty="0">
                <a:solidFill>
                  <a:srgbClr val="4A4F57"/>
                </a:solidFill>
                <a:latin typeface="Calibri" pitchFamily="34" charset="0"/>
                <a:ea typeface="Calibri" pitchFamily="34" charset="-122"/>
                <a:cs typeface="Calibri" pitchFamily="34" charset="-120"/>
              </a:rPr>
              <a:t>   how well the model ranks rare positives
</a:t>
            </a:r>
            <a:r>
              <a:rPr lang="en-US" sz="1300" b="1" dirty="0">
                <a:solidFill>
                  <a:srgbClr val="1A1A1A"/>
                </a:solidFill>
                <a:latin typeface="Calibri" pitchFamily="34" charset="0"/>
                <a:ea typeface="Calibri" pitchFamily="34" charset="-122"/>
                <a:cs typeface="Calibri" pitchFamily="34" charset="-120"/>
              </a:rPr>
              <a:t>Precision and recall</a:t>
            </a:r>
            <a:r>
              <a:rPr lang="en-US" sz="1300" dirty="0">
                <a:solidFill>
                  <a:srgbClr val="4A4F57"/>
                </a:solidFill>
                <a:latin typeface="Calibri" pitchFamily="34" charset="0"/>
                <a:ea typeface="Calibri" pitchFamily="34" charset="-122"/>
                <a:cs typeface="Calibri" pitchFamily="34" charset="-120"/>
              </a:rPr>
              <a:t>   at a chosen cut off
</a:t>
            </a:r>
            <a:r>
              <a:rPr lang="en-US" sz="1300" b="1" dirty="0">
                <a:solidFill>
                  <a:srgbClr val="1A1A1A"/>
                </a:solidFill>
                <a:latin typeface="Calibri" pitchFamily="34" charset="0"/>
                <a:ea typeface="Calibri" pitchFamily="34" charset="-122"/>
                <a:cs typeface="Calibri" pitchFamily="34" charset="-120"/>
              </a:rPr>
              <a:t>Total cost in rand</a:t>
            </a:r>
            <a:r>
              <a:rPr lang="en-US" sz="1300" dirty="0">
                <a:solidFill>
                  <a:srgbClr val="4A4F57"/>
                </a:solidFill>
                <a:latin typeface="Calibri" pitchFamily="34" charset="0"/>
                <a:ea typeface="Calibri" pitchFamily="34" charset="-122"/>
                <a:cs typeface="Calibri" pitchFamily="34" charset="-120"/>
              </a:rPr>
              <a:t>   what the bank actually pays</a:t>
            </a:r>
            <a:endParaRPr lang="en-US" sz="1300" dirty="0"/>
          </a:p>
        </p:txBody>
      </p:sp>
      <p:sp>
        <p:nvSpPr>
          <p:cNvPr id="14" name="Shape 11"/>
          <p:cNvSpPr/>
          <p:nvPr/>
        </p:nvSpPr>
        <p:spPr>
          <a:xfrm>
            <a:off x="5303520" y="4800600"/>
            <a:ext cx="6217920" cy="914400"/>
          </a:xfrm>
          <a:prstGeom prst="roundRect">
            <a:avLst>
              <a:gd name="adj" fmla="val 5000"/>
            </a:avLst>
          </a:prstGeom>
          <a:solidFill>
            <a:srgbClr val="F2F5FB"/>
          </a:solidFill>
          <a:ln w="12700">
            <a:solidFill>
              <a:srgbClr val="D5DEEF"/>
            </a:solidFill>
            <a:prstDash val="solid"/>
          </a:ln>
        </p:spPr>
        <p:txBody>
          <a:bodyPr/>
          <a:lstStyle/>
          <a:p>
            <a:endParaRPr lang="en-US"/>
          </a:p>
        </p:txBody>
      </p:sp>
      <p:sp>
        <p:nvSpPr>
          <p:cNvPr id="15" name="Text 12"/>
          <p:cNvSpPr/>
          <p:nvPr/>
        </p:nvSpPr>
        <p:spPr>
          <a:xfrm>
            <a:off x="5532120" y="4956048"/>
            <a:ext cx="5760720" cy="621792"/>
          </a:xfrm>
          <a:prstGeom prst="rect">
            <a:avLst/>
          </a:prstGeom>
          <a:noFill/>
          <a:ln/>
        </p:spPr>
        <p:txBody>
          <a:bodyPr wrap="square" rtlCol="0" anchor="ctr"/>
          <a:lstStyle/>
          <a:p>
            <a:pPr marL="0" indent="0">
              <a:buNone/>
            </a:pPr>
            <a:r>
              <a:rPr lang="en-US" sz="1200" b="1" dirty="0">
                <a:solidFill>
                  <a:srgbClr val="0033A1"/>
                </a:solidFill>
                <a:latin typeface="Calibri" pitchFamily="34" charset="0"/>
                <a:ea typeface="Calibri" pitchFamily="34" charset="-122"/>
                <a:cs typeface="Calibri" pitchFamily="34" charset="-120"/>
              </a:rPr>
              <a:t>On imbalance:  </a:t>
            </a:r>
            <a:r>
              <a:rPr lang="en-US" sz="1200" dirty="0">
                <a:solidFill>
                  <a:srgbClr val="1A1A1A"/>
                </a:solidFill>
                <a:latin typeface="Calibri" pitchFamily="34" charset="0"/>
                <a:ea typeface="Calibri" pitchFamily="34" charset="-122"/>
                <a:cs typeface="Calibri" pitchFamily="34" charset="-120"/>
              </a:rPr>
              <a:t>we used class weighting, not SMOTE. SMOTE invents fraud rows whose balances do not add up, corrupting the very columns we study.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994392" cy="548640"/>
          </a:xfrm>
          <a:prstGeom prst="rect">
            <a:avLst/>
          </a:prstGeom>
          <a:noFill/>
          <a:ln/>
        </p:spPr>
        <p:txBody>
          <a:bodyPr wrap="square" rtlCol="0" anchor="ctr"/>
          <a:lstStyle/>
          <a:p>
            <a:pPr marL="0" indent="0">
              <a:buNone/>
            </a:pPr>
            <a:r>
              <a:rPr lang="en-US" sz="3000" b="1" dirty="0">
                <a:solidFill>
                  <a:srgbClr val="0033A1"/>
                </a:solidFill>
                <a:latin typeface="Cambria" pitchFamily="34" charset="0"/>
                <a:ea typeface="Cambria" pitchFamily="34" charset="-122"/>
                <a:cs typeface="Cambria" pitchFamily="34" charset="-120"/>
              </a:rPr>
              <a:t>Pattern One: Fraud Hides in Two Places</a:t>
            </a:r>
            <a:endParaRPr lang="en-US" sz="3000" dirty="0"/>
          </a:p>
        </p:txBody>
      </p:sp>
      <p:sp>
        <p:nvSpPr>
          <p:cNvPr id="3" name="Text 1"/>
          <p:cNvSpPr/>
          <p:nvPr/>
        </p:nvSpPr>
        <p:spPr>
          <a:xfrm>
            <a:off x="640080" y="941832"/>
            <a:ext cx="9994392" cy="310896"/>
          </a:xfrm>
          <a:prstGeom prst="rect">
            <a:avLst/>
          </a:prstGeom>
          <a:noFill/>
          <a:ln/>
        </p:spPr>
        <p:txBody>
          <a:bodyPr wrap="square" rtlCol="0" anchor="ctr"/>
          <a:lstStyle/>
          <a:p>
            <a:pPr marL="0" indent="0">
              <a:buNone/>
            </a:pPr>
            <a:r>
              <a:rPr lang="en-US" sz="1400" dirty="0">
                <a:solidFill>
                  <a:srgbClr val="4A4F57"/>
                </a:solidFill>
                <a:latin typeface="Calibri" pitchFamily="34" charset="0"/>
                <a:ea typeface="Calibri" pitchFamily="34" charset="-122"/>
                <a:cs typeface="Calibri" pitchFamily="34" charset="-120"/>
              </a:rPr>
              <a:t>Every fraud case is a transfer or a cash withdrawal</a:t>
            </a:r>
            <a:endParaRPr lang="en-US" sz="1400" dirty="0"/>
          </a:p>
        </p:txBody>
      </p:sp>
      <p:sp>
        <p:nvSpPr>
          <p:cNvPr id="4" name="Text 2"/>
          <p:cNvSpPr/>
          <p:nvPr/>
        </p:nvSpPr>
        <p:spPr>
          <a:xfrm>
            <a:off x="10725912" y="384048"/>
            <a:ext cx="822960" cy="457200"/>
          </a:xfrm>
          <a:prstGeom prst="rect">
            <a:avLst/>
          </a:prstGeom>
          <a:noFill/>
          <a:ln/>
        </p:spPr>
        <p:txBody>
          <a:bodyPr wrap="square" rtlCol="0" anchor="ctr"/>
          <a:lstStyle/>
          <a:p>
            <a:pPr marL="0" indent="0" algn="r">
              <a:buNone/>
            </a:pPr>
            <a:r>
              <a:rPr lang="en-US" sz="2600" b="1" dirty="0">
                <a:solidFill>
                  <a:srgbClr val="D5DEEF"/>
                </a:solidFill>
                <a:latin typeface="Cambria" pitchFamily="34" charset="0"/>
                <a:ea typeface="Cambria" pitchFamily="34" charset="-122"/>
                <a:cs typeface="Cambria" pitchFamily="34" charset="-120"/>
              </a:rPr>
              <a:t>03</a:t>
            </a:r>
            <a:endParaRPr lang="en-US" sz="2600" dirty="0"/>
          </a:p>
        </p:txBody>
      </p:sp>
      <p:sp>
        <p:nvSpPr>
          <p:cNvPr id="5" name="Text 3"/>
          <p:cNvSpPr/>
          <p:nvPr/>
        </p:nvSpPr>
        <p:spPr>
          <a:xfrm>
            <a:off x="640080" y="6437376"/>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FinTech Titans  |  Catching Fraud in Mobile Money</a:t>
            </a:r>
            <a:endParaRPr lang="en-US" sz="900" dirty="0"/>
          </a:p>
        </p:txBody>
      </p:sp>
      <p:graphicFrame>
        <p:nvGraphicFramePr>
          <p:cNvPr id="6" name="Chart 0"/>
          <p:cNvGraphicFramePr/>
          <p:nvPr/>
        </p:nvGraphicFramePr>
        <p:xfrm>
          <a:off x="548640" y="1554480"/>
          <a:ext cx="612648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040880" y="1645920"/>
            <a:ext cx="2148840" cy="1371600"/>
          </a:xfrm>
          <a:prstGeom prst="roundRect">
            <a:avLst>
              <a:gd name="adj" fmla="val 3333"/>
            </a:avLst>
          </a:prstGeom>
          <a:solidFill>
            <a:srgbClr val="F2F5FB"/>
          </a:solidFill>
          <a:ln w="12700">
            <a:solidFill>
              <a:srgbClr val="D5DEEF"/>
            </a:solidFill>
            <a:prstDash val="solid"/>
          </a:ln>
        </p:spPr>
        <p:txBody>
          <a:bodyPr/>
          <a:lstStyle/>
          <a:p>
            <a:endParaRPr lang="en-US"/>
          </a:p>
        </p:txBody>
      </p:sp>
      <p:sp>
        <p:nvSpPr>
          <p:cNvPr id="8" name="Text 5"/>
          <p:cNvSpPr/>
          <p:nvPr/>
        </p:nvSpPr>
        <p:spPr>
          <a:xfrm>
            <a:off x="7059168" y="1801368"/>
            <a:ext cx="2112264" cy="658368"/>
          </a:xfrm>
          <a:prstGeom prst="rect">
            <a:avLst/>
          </a:prstGeom>
          <a:noFill/>
          <a:ln/>
        </p:spPr>
        <p:txBody>
          <a:bodyPr wrap="square" rtlCol="0" anchor="ctr"/>
          <a:lstStyle/>
          <a:p>
            <a:pPr marL="0" indent="0" algn="ctr">
              <a:buNone/>
            </a:pPr>
            <a:r>
              <a:rPr lang="en-US" sz="3400" b="1" dirty="0">
                <a:solidFill>
                  <a:srgbClr val="D0021B"/>
                </a:solidFill>
                <a:latin typeface="Cambria" pitchFamily="34" charset="0"/>
                <a:ea typeface="Cambria" pitchFamily="34" charset="-122"/>
                <a:cs typeface="Cambria" pitchFamily="34" charset="-120"/>
              </a:rPr>
              <a:t>432</a:t>
            </a:r>
            <a:endParaRPr lang="en-US" sz="3400" dirty="0"/>
          </a:p>
        </p:txBody>
      </p:sp>
      <p:sp>
        <p:nvSpPr>
          <p:cNvPr id="9" name="Text 6"/>
          <p:cNvSpPr/>
          <p:nvPr/>
        </p:nvSpPr>
        <p:spPr>
          <a:xfrm>
            <a:off x="7150608" y="2468880"/>
            <a:ext cx="1929384" cy="438912"/>
          </a:xfrm>
          <a:prstGeom prst="rect">
            <a:avLst/>
          </a:prstGeom>
          <a:noFill/>
          <a:ln/>
        </p:spPr>
        <p:txBody>
          <a:bodyPr wrap="square" rtlCol="0" anchor="ctr"/>
          <a:lstStyle/>
          <a:p>
            <a:pPr marL="0" indent="0" algn="ctr">
              <a:buNone/>
            </a:pPr>
            <a:r>
              <a:rPr lang="en-US" sz="1100" dirty="0">
                <a:solidFill>
                  <a:srgbClr val="4A4F57"/>
                </a:solidFill>
                <a:latin typeface="Calibri" pitchFamily="34" charset="0"/>
                <a:ea typeface="Calibri" pitchFamily="34" charset="-122"/>
                <a:cs typeface="Calibri" pitchFamily="34" charset="-120"/>
              </a:rPr>
              <a:t>fraud transfers</a:t>
            </a:r>
            <a:endParaRPr lang="en-US" sz="1100" dirty="0"/>
          </a:p>
          <a:p>
            <a:pPr marL="0" indent="0" algn="ctr">
              <a:buNone/>
            </a:pPr>
            <a:r>
              <a:rPr lang="en-US" sz="1100" dirty="0">
                <a:solidFill>
                  <a:srgbClr val="4A4F57"/>
                </a:solidFill>
                <a:latin typeface="Calibri" pitchFamily="34" charset="0"/>
                <a:ea typeface="Calibri" pitchFamily="34" charset="-122"/>
                <a:cs typeface="Calibri" pitchFamily="34" charset="-120"/>
              </a:rPr>
              <a:t>0.81% rate</a:t>
            </a:r>
            <a:endParaRPr lang="en-US" sz="1100" dirty="0"/>
          </a:p>
        </p:txBody>
      </p:sp>
      <p:sp>
        <p:nvSpPr>
          <p:cNvPr id="10" name="Shape 7"/>
          <p:cNvSpPr/>
          <p:nvPr/>
        </p:nvSpPr>
        <p:spPr>
          <a:xfrm>
            <a:off x="9372600" y="1645920"/>
            <a:ext cx="2148840" cy="1371600"/>
          </a:xfrm>
          <a:prstGeom prst="roundRect">
            <a:avLst>
              <a:gd name="adj" fmla="val 3333"/>
            </a:avLst>
          </a:prstGeom>
          <a:solidFill>
            <a:srgbClr val="F2F5FB"/>
          </a:solidFill>
          <a:ln w="12700">
            <a:solidFill>
              <a:srgbClr val="D5DEEF"/>
            </a:solidFill>
            <a:prstDash val="solid"/>
          </a:ln>
        </p:spPr>
        <p:txBody>
          <a:bodyPr/>
          <a:lstStyle/>
          <a:p>
            <a:endParaRPr lang="en-US"/>
          </a:p>
        </p:txBody>
      </p:sp>
      <p:sp>
        <p:nvSpPr>
          <p:cNvPr id="11" name="Text 8"/>
          <p:cNvSpPr/>
          <p:nvPr/>
        </p:nvSpPr>
        <p:spPr>
          <a:xfrm>
            <a:off x="9390888" y="1801368"/>
            <a:ext cx="2112264" cy="658368"/>
          </a:xfrm>
          <a:prstGeom prst="rect">
            <a:avLst/>
          </a:prstGeom>
          <a:noFill/>
          <a:ln/>
        </p:spPr>
        <p:txBody>
          <a:bodyPr wrap="square" rtlCol="0" anchor="ctr"/>
          <a:lstStyle/>
          <a:p>
            <a:pPr marL="0" indent="0" algn="ctr">
              <a:buNone/>
            </a:pPr>
            <a:r>
              <a:rPr lang="en-US" sz="3400" b="1" dirty="0">
                <a:solidFill>
                  <a:srgbClr val="D0021B"/>
                </a:solidFill>
                <a:latin typeface="Cambria" pitchFamily="34" charset="0"/>
                <a:ea typeface="Cambria" pitchFamily="34" charset="-122"/>
                <a:cs typeface="Cambria" pitchFamily="34" charset="-120"/>
              </a:rPr>
              <a:t>417</a:t>
            </a:r>
            <a:endParaRPr lang="en-US" sz="3400" dirty="0"/>
          </a:p>
        </p:txBody>
      </p:sp>
      <p:sp>
        <p:nvSpPr>
          <p:cNvPr id="12" name="Text 9"/>
          <p:cNvSpPr/>
          <p:nvPr/>
        </p:nvSpPr>
        <p:spPr>
          <a:xfrm>
            <a:off x="9482328" y="2468880"/>
            <a:ext cx="1929384" cy="438912"/>
          </a:xfrm>
          <a:prstGeom prst="rect">
            <a:avLst/>
          </a:prstGeom>
          <a:noFill/>
          <a:ln/>
        </p:spPr>
        <p:txBody>
          <a:bodyPr wrap="square" rtlCol="0" anchor="ctr"/>
          <a:lstStyle/>
          <a:p>
            <a:pPr marL="0" indent="0" algn="ctr">
              <a:buNone/>
            </a:pPr>
            <a:r>
              <a:rPr lang="en-US" sz="1100" dirty="0">
                <a:solidFill>
                  <a:srgbClr val="4A4F57"/>
                </a:solidFill>
                <a:latin typeface="Calibri" pitchFamily="34" charset="0"/>
                <a:ea typeface="Calibri" pitchFamily="34" charset="-122"/>
                <a:cs typeface="Calibri" pitchFamily="34" charset="-120"/>
              </a:rPr>
              <a:t>fraud cash outs</a:t>
            </a:r>
            <a:endParaRPr lang="en-US" sz="1100" dirty="0"/>
          </a:p>
          <a:p>
            <a:pPr marL="0" indent="0" algn="ctr">
              <a:buNone/>
            </a:pPr>
            <a:r>
              <a:rPr lang="en-US" sz="1100" dirty="0">
                <a:solidFill>
                  <a:srgbClr val="4A4F57"/>
                </a:solidFill>
                <a:latin typeface="Calibri" pitchFamily="34" charset="0"/>
                <a:ea typeface="Calibri" pitchFamily="34" charset="-122"/>
                <a:cs typeface="Calibri" pitchFamily="34" charset="-120"/>
              </a:rPr>
              <a:t>0.19% rate</a:t>
            </a:r>
            <a:endParaRPr lang="en-US" sz="1100" dirty="0"/>
          </a:p>
        </p:txBody>
      </p:sp>
      <p:sp>
        <p:nvSpPr>
          <p:cNvPr id="13" name="Shape 10"/>
          <p:cNvSpPr/>
          <p:nvPr/>
        </p:nvSpPr>
        <p:spPr>
          <a:xfrm>
            <a:off x="7040880" y="3246120"/>
            <a:ext cx="4480560" cy="2057400"/>
          </a:xfrm>
          <a:prstGeom prst="roundRect">
            <a:avLst>
              <a:gd name="adj" fmla="val 2222"/>
            </a:avLst>
          </a:prstGeom>
          <a:solidFill>
            <a:srgbClr val="F2F5FB"/>
          </a:solidFill>
          <a:ln w="12700">
            <a:solidFill>
              <a:srgbClr val="D5DEEF"/>
            </a:solidFill>
            <a:prstDash val="solid"/>
          </a:ln>
        </p:spPr>
        <p:txBody>
          <a:bodyPr/>
          <a:lstStyle/>
          <a:p>
            <a:endParaRPr lang="en-US"/>
          </a:p>
        </p:txBody>
      </p:sp>
      <p:sp>
        <p:nvSpPr>
          <p:cNvPr id="14" name="Text 11"/>
          <p:cNvSpPr/>
          <p:nvPr/>
        </p:nvSpPr>
        <p:spPr>
          <a:xfrm>
            <a:off x="7269480" y="3410712"/>
            <a:ext cx="4023360" cy="292608"/>
          </a:xfrm>
          <a:prstGeom prst="rect">
            <a:avLst/>
          </a:prstGeom>
          <a:noFill/>
          <a:ln/>
        </p:spPr>
        <p:txBody>
          <a:bodyPr wrap="square" rtlCol="0" anchor="ctr"/>
          <a:lstStyle/>
          <a:p>
            <a:pPr marL="0" indent="0">
              <a:buNone/>
            </a:pPr>
            <a:r>
              <a:rPr lang="en-US" sz="1500" b="1" dirty="0">
                <a:solidFill>
                  <a:srgbClr val="1E7B4D"/>
                </a:solidFill>
                <a:latin typeface="Calibri" pitchFamily="34" charset="0"/>
                <a:ea typeface="Calibri" pitchFamily="34" charset="-122"/>
                <a:cs typeface="Calibri" pitchFamily="34" charset="-120"/>
              </a:rPr>
              <a:t>What this buys us</a:t>
            </a:r>
            <a:endParaRPr lang="en-US" sz="1500" dirty="0"/>
          </a:p>
        </p:txBody>
      </p:sp>
      <p:sp>
        <p:nvSpPr>
          <p:cNvPr id="15" name="Text 12"/>
          <p:cNvSpPr/>
          <p:nvPr/>
        </p:nvSpPr>
        <p:spPr>
          <a:xfrm>
            <a:off x="7269480" y="3749040"/>
            <a:ext cx="4023360" cy="105156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PAYMENT, CASH_IN and DEBIT contain </a:t>
            </a:r>
            <a:r>
              <a:rPr lang="en-US" sz="1300" b="1" dirty="0">
                <a:solidFill>
                  <a:srgbClr val="0033A1"/>
                </a:solidFill>
                <a:latin typeface="Calibri" pitchFamily="34" charset="0"/>
                <a:ea typeface="Calibri" pitchFamily="34" charset="-122"/>
                <a:cs typeface="Calibri" pitchFamily="34" charset="-120"/>
              </a:rPr>
              <a:t>zero fraud</a:t>
            </a:r>
            <a:r>
              <a:rPr lang="en-US" sz="1300" dirty="0">
                <a:solidFill>
                  <a:srgbClr val="1A1A1A"/>
                </a:solidFill>
                <a:latin typeface="Calibri" pitchFamily="34" charset="0"/>
                <a:ea typeface="Calibri" pitchFamily="34" charset="-122"/>
                <a:cs typeface="Calibri" pitchFamily="34" charset="-120"/>
              </a:rPr>
              <a:t> across the entire dataset. That is 56 percent of all volume that can be routed around the model with no loss of coverage.</a:t>
            </a:r>
            <a:endParaRPr lang="en-US" sz="1300" dirty="0"/>
          </a:p>
        </p:txBody>
      </p:sp>
      <p:sp>
        <p:nvSpPr>
          <p:cNvPr id="16" name="Text 13"/>
          <p:cNvSpPr/>
          <p:nvPr/>
        </p:nvSpPr>
        <p:spPr>
          <a:xfrm>
            <a:off x="7269480" y="4754880"/>
            <a:ext cx="4023360" cy="457200"/>
          </a:xfrm>
          <a:prstGeom prst="rect">
            <a:avLst/>
          </a:prstGeom>
          <a:noFill/>
          <a:ln/>
        </p:spPr>
        <p:txBody>
          <a:bodyPr wrap="square" rtlCol="0" anchor="ctr"/>
          <a:lstStyle/>
          <a:p>
            <a:pPr marL="0" indent="0">
              <a:buNone/>
            </a:pPr>
            <a:r>
              <a:rPr lang="en-US" sz="1200" i="1" dirty="0">
                <a:solidFill>
                  <a:srgbClr val="4A4F57"/>
                </a:solidFill>
                <a:latin typeface="Calibri" pitchFamily="34" charset="0"/>
                <a:ea typeface="Calibri" pitchFamily="34" charset="-122"/>
                <a:cs typeface="Calibri" pitchFamily="34" charset="-120"/>
              </a:rPr>
              <a:t>Transfer is the priority: four times the fraud rate, and it is the first leg of the attack.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994392" cy="548640"/>
          </a:xfrm>
          <a:prstGeom prst="rect">
            <a:avLst/>
          </a:prstGeom>
          <a:noFill/>
          <a:ln/>
        </p:spPr>
        <p:txBody>
          <a:bodyPr wrap="square" rtlCol="0" anchor="ctr"/>
          <a:lstStyle/>
          <a:p>
            <a:pPr marL="0" indent="0">
              <a:buNone/>
            </a:pPr>
            <a:r>
              <a:rPr lang="en-US" sz="3000" b="1" dirty="0">
                <a:solidFill>
                  <a:srgbClr val="0033A1"/>
                </a:solidFill>
                <a:latin typeface="Cambria" pitchFamily="34" charset="0"/>
                <a:ea typeface="Cambria" pitchFamily="34" charset="-122"/>
                <a:cs typeface="Cambria" pitchFamily="34" charset="-120"/>
              </a:rPr>
              <a:t>Pattern Two: Fraud Never Sleeps</a:t>
            </a:r>
            <a:endParaRPr lang="en-US" sz="3000" dirty="0"/>
          </a:p>
        </p:txBody>
      </p:sp>
      <p:sp>
        <p:nvSpPr>
          <p:cNvPr id="3" name="Text 1"/>
          <p:cNvSpPr/>
          <p:nvPr/>
        </p:nvSpPr>
        <p:spPr>
          <a:xfrm>
            <a:off x="640080" y="941832"/>
            <a:ext cx="9994392" cy="310896"/>
          </a:xfrm>
          <a:prstGeom prst="rect">
            <a:avLst/>
          </a:prstGeom>
          <a:noFill/>
          <a:ln/>
        </p:spPr>
        <p:txBody>
          <a:bodyPr wrap="square" rtlCol="0" anchor="ctr"/>
          <a:lstStyle/>
          <a:p>
            <a:pPr marL="0" indent="0">
              <a:buNone/>
            </a:pPr>
            <a:r>
              <a:rPr lang="en-US" sz="1400" dirty="0">
                <a:solidFill>
                  <a:srgbClr val="4A4F57"/>
                </a:solidFill>
                <a:latin typeface="Calibri" pitchFamily="34" charset="0"/>
                <a:ea typeface="Calibri" pitchFamily="34" charset="-122"/>
                <a:cs typeface="Calibri" pitchFamily="34" charset="-120"/>
              </a:rPr>
              <a:t>Genuine activity follows a daily rhythm. Fraud does not.</a:t>
            </a:r>
            <a:endParaRPr lang="en-US" sz="1400" dirty="0"/>
          </a:p>
        </p:txBody>
      </p:sp>
      <p:sp>
        <p:nvSpPr>
          <p:cNvPr id="4" name="Text 2"/>
          <p:cNvSpPr/>
          <p:nvPr/>
        </p:nvSpPr>
        <p:spPr>
          <a:xfrm>
            <a:off x="10725912" y="384048"/>
            <a:ext cx="822960" cy="457200"/>
          </a:xfrm>
          <a:prstGeom prst="rect">
            <a:avLst/>
          </a:prstGeom>
          <a:noFill/>
          <a:ln/>
        </p:spPr>
        <p:txBody>
          <a:bodyPr wrap="square" rtlCol="0" anchor="ctr"/>
          <a:lstStyle/>
          <a:p>
            <a:pPr marL="0" indent="0" algn="r">
              <a:buNone/>
            </a:pPr>
            <a:r>
              <a:rPr lang="en-US" sz="2600" b="1" dirty="0">
                <a:solidFill>
                  <a:srgbClr val="D5DEEF"/>
                </a:solidFill>
                <a:latin typeface="Cambria" pitchFamily="34" charset="0"/>
                <a:ea typeface="Cambria" pitchFamily="34" charset="-122"/>
                <a:cs typeface="Cambria" pitchFamily="34" charset="-120"/>
              </a:rPr>
              <a:t>04</a:t>
            </a:r>
            <a:endParaRPr lang="en-US" sz="2600" dirty="0"/>
          </a:p>
        </p:txBody>
      </p:sp>
      <p:sp>
        <p:nvSpPr>
          <p:cNvPr id="5" name="Text 3"/>
          <p:cNvSpPr/>
          <p:nvPr/>
        </p:nvSpPr>
        <p:spPr>
          <a:xfrm>
            <a:off x="640080" y="6437376"/>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FinTech Titans  |  Catching Fraud in Mobile Money</a:t>
            </a:r>
            <a:endParaRPr lang="en-US" sz="900" dirty="0"/>
          </a:p>
        </p:txBody>
      </p:sp>
      <p:sp>
        <p:nvSpPr>
          <p:cNvPr id="7" name="Text 4"/>
          <p:cNvSpPr/>
          <p:nvPr/>
        </p:nvSpPr>
        <p:spPr>
          <a:xfrm>
            <a:off x="548640" y="4846320"/>
            <a:ext cx="6492240" cy="274320"/>
          </a:xfrm>
          <a:prstGeom prst="rect">
            <a:avLst/>
          </a:prstGeom>
          <a:noFill/>
          <a:ln/>
        </p:spPr>
        <p:txBody>
          <a:bodyPr wrap="square" rtlCol="0" anchor="ctr"/>
          <a:lstStyle/>
          <a:p>
            <a:pPr marL="0" indent="0">
              <a:buNone/>
            </a:pPr>
            <a:r>
              <a:rPr lang="en-US" sz="1100" i="1" dirty="0">
                <a:solidFill>
                  <a:srgbClr val="4A4F57"/>
                </a:solidFill>
                <a:latin typeface="Calibri" pitchFamily="34" charset="0"/>
                <a:ea typeface="Calibri" pitchFamily="34" charset="-122"/>
                <a:cs typeface="Calibri" pitchFamily="34" charset="-120"/>
              </a:rPr>
              <a:t>Fraud rate climbs to 22 percent in the quietest part of the cycle</a:t>
            </a:r>
            <a:endParaRPr lang="en-US" sz="1100" dirty="0"/>
          </a:p>
        </p:txBody>
      </p:sp>
      <p:sp>
        <p:nvSpPr>
          <p:cNvPr id="8" name="Shape 5"/>
          <p:cNvSpPr/>
          <p:nvPr/>
        </p:nvSpPr>
        <p:spPr>
          <a:xfrm>
            <a:off x="7406640" y="1600200"/>
            <a:ext cx="4114800" cy="1645920"/>
          </a:xfrm>
          <a:prstGeom prst="roundRect">
            <a:avLst>
              <a:gd name="adj" fmla="val 2778"/>
            </a:avLst>
          </a:prstGeom>
          <a:solidFill>
            <a:srgbClr val="F2F5FB"/>
          </a:solidFill>
          <a:ln w="12700">
            <a:solidFill>
              <a:srgbClr val="D5DEEF"/>
            </a:solidFill>
            <a:prstDash val="solid"/>
          </a:ln>
        </p:spPr>
        <p:txBody>
          <a:bodyPr/>
          <a:lstStyle/>
          <a:p>
            <a:endParaRPr lang="en-US"/>
          </a:p>
        </p:txBody>
      </p:sp>
      <p:sp>
        <p:nvSpPr>
          <p:cNvPr id="9" name="Text 6"/>
          <p:cNvSpPr/>
          <p:nvPr/>
        </p:nvSpPr>
        <p:spPr>
          <a:xfrm>
            <a:off x="7635240" y="1755648"/>
            <a:ext cx="3657600" cy="274320"/>
          </a:xfrm>
          <a:prstGeom prst="rect">
            <a:avLst/>
          </a:prstGeom>
          <a:noFill/>
          <a:ln/>
        </p:spPr>
        <p:txBody>
          <a:bodyPr wrap="square" rtlCol="0" anchor="ctr"/>
          <a:lstStyle/>
          <a:p>
            <a:pPr marL="0" indent="0">
              <a:buNone/>
            </a:pPr>
            <a:r>
              <a:rPr lang="en-US" sz="1500" b="1" dirty="0">
                <a:solidFill>
                  <a:srgbClr val="D0021B"/>
                </a:solidFill>
                <a:latin typeface="Calibri" pitchFamily="34" charset="0"/>
                <a:ea typeface="Calibri" pitchFamily="34" charset="-122"/>
                <a:cs typeface="Calibri" pitchFamily="34" charset="-120"/>
              </a:rPr>
              <a:t>The honest version</a:t>
            </a:r>
            <a:endParaRPr lang="en-US" sz="1500" dirty="0"/>
          </a:p>
        </p:txBody>
      </p:sp>
      <p:sp>
        <p:nvSpPr>
          <p:cNvPr id="10" name="Text 7"/>
          <p:cNvSpPr/>
          <p:nvPr/>
        </p:nvSpPr>
        <p:spPr>
          <a:xfrm>
            <a:off x="7635240" y="2075688"/>
            <a:ext cx="3657600" cy="10972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The data never tells us what clock time step 1 was, so we cannot claim "04:00". We treat step as a position in a repeating cycle and derive the risky window from observed volume.</a:t>
            </a:r>
            <a:endParaRPr lang="en-US" sz="1200" dirty="0"/>
          </a:p>
        </p:txBody>
      </p:sp>
      <p:sp>
        <p:nvSpPr>
          <p:cNvPr id="11" name="Shape 8"/>
          <p:cNvSpPr/>
          <p:nvPr/>
        </p:nvSpPr>
        <p:spPr>
          <a:xfrm>
            <a:off x="7406640" y="3429000"/>
            <a:ext cx="1965960" cy="1371600"/>
          </a:xfrm>
          <a:prstGeom prst="roundRect">
            <a:avLst>
              <a:gd name="adj" fmla="val 3333"/>
            </a:avLst>
          </a:prstGeom>
          <a:solidFill>
            <a:srgbClr val="F2F5FB"/>
          </a:solidFill>
          <a:ln w="12700">
            <a:solidFill>
              <a:srgbClr val="D5DEEF"/>
            </a:solidFill>
            <a:prstDash val="solid"/>
          </a:ln>
        </p:spPr>
        <p:txBody>
          <a:bodyPr/>
          <a:lstStyle/>
          <a:p>
            <a:endParaRPr lang="en-US"/>
          </a:p>
        </p:txBody>
      </p:sp>
      <p:sp>
        <p:nvSpPr>
          <p:cNvPr id="12" name="Text 9"/>
          <p:cNvSpPr/>
          <p:nvPr/>
        </p:nvSpPr>
        <p:spPr>
          <a:xfrm>
            <a:off x="7424928" y="3584448"/>
            <a:ext cx="1929384" cy="658368"/>
          </a:xfrm>
          <a:prstGeom prst="rect">
            <a:avLst/>
          </a:prstGeom>
          <a:noFill/>
          <a:ln/>
        </p:spPr>
        <p:txBody>
          <a:bodyPr wrap="square" rtlCol="0" anchor="ctr"/>
          <a:lstStyle/>
          <a:p>
            <a:pPr marL="0" indent="0" algn="ctr">
              <a:buNone/>
            </a:pPr>
            <a:r>
              <a:rPr lang="en-US" sz="3400" b="1" dirty="0">
                <a:solidFill>
                  <a:srgbClr val="D0021B"/>
                </a:solidFill>
                <a:latin typeface="Cambria" pitchFamily="34" charset="0"/>
                <a:ea typeface="Cambria" pitchFamily="34" charset="-122"/>
                <a:cs typeface="Cambria" pitchFamily="34" charset="-120"/>
              </a:rPr>
              <a:t>3.48%</a:t>
            </a:r>
            <a:endParaRPr lang="en-US" sz="3400" dirty="0"/>
          </a:p>
        </p:txBody>
      </p:sp>
      <p:sp>
        <p:nvSpPr>
          <p:cNvPr id="13" name="Text 10"/>
          <p:cNvSpPr/>
          <p:nvPr/>
        </p:nvSpPr>
        <p:spPr>
          <a:xfrm>
            <a:off x="7516368" y="4251960"/>
            <a:ext cx="1746504" cy="438912"/>
          </a:xfrm>
          <a:prstGeom prst="rect">
            <a:avLst/>
          </a:prstGeom>
          <a:noFill/>
          <a:ln/>
        </p:spPr>
        <p:txBody>
          <a:bodyPr wrap="square" rtlCol="0" anchor="ctr"/>
          <a:lstStyle/>
          <a:p>
            <a:pPr marL="0" indent="0" algn="ctr">
              <a:buNone/>
            </a:pPr>
            <a:r>
              <a:rPr lang="en-US" sz="1100" dirty="0">
                <a:solidFill>
                  <a:srgbClr val="4A4F57"/>
                </a:solidFill>
                <a:latin typeface="Calibri" pitchFamily="34" charset="0"/>
                <a:ea typeface="Calibri" pitchFamily="34" charset="-122"/>
                <a:cs typeface="Calibri" pitchFamily="34" charset="-120"/>
              </a:rPr>
              <a:t>fraud rate,</a:t>
            </a:r>
            <a:endParaRPr lang="en-US" sz="1100" dirty="0"/>
          </a:p>
          <a:p>
            <a:pPr marL="0" indent="0" algn="ctr">
              <a:buNone/>
            </a:pPr>
            <a:r>
              <a:rPr lang="en-US" sz="1100" dirty="0">
                <a:solidFill>
                  <a:srgbClr val="4A4F57"/>
                </a:solidFill>
                <a:latin typeface="Calibri" pitchFamily="34" charset="0"/>
                <a:ea typeface="Calibri" pitchFamily="34" charset="-122"/>
                <a:cs typeface="Calibri" pitchFamily="34" charset="-120"/>
              </a:rPr>
              <a:t>quiet window</a:t>
            </a:r>
            <a:endParaRPr lang="en-US" sz="1100" dirty="0"/>
          </a:p>
        </p:txBody>
      </p:sp>
      <p:sp>
        <p:nvSpPr>
          <p:cNvPr id="14" name="Shape 11"/>
          <p:cNvSpPr/>
          <p:nvPr/>
        </p:nvSpPr>
        <p:spPr>
          <a:xfrm>
            <a:off x="9555480" y="3429000"/>
            <a:ext cx="1965960" cy="1371600"/>
          </a:xfrm>
          <a:prstGeom prst="roundRect">
            <a:avLst>
              <a:gd name="adj" fmla="val 3333"/>
            </a:avLst>
          </a:prstGeom>
          <a:solidFill>
            <a:srgbClr val="F2F5FB"/>
          </a:solidFill>
          <a:ln w="12700">
            <a:solidFill>
              <a:srgbClr val="D5DEEF"/>
            </a:solidFill>
            <a:prstDash val="solid"/>
          </a:ln>
        </p:spPr>
        <p:txBody>
          <a:bodyPr/>
          <a:lstStyle/>
          <a:p>
            <a:endParaRPr lang="en-US"/>
          </a:p>
        </p:txBody>
      </p:sp>
      <p:sp>
        <p:nvSpPr>
          <p:cNvPr id="15" name="Text 12"/>
          <p:cNvSpPr/>
          <p:nvPr/>
        </p:nvSpPr>
        <p:spPr>
          <a:xfrm>
            <a:off x="9573768" y="3584448"/>
            <a:ext cx="1929384" cy="658368"/>
          </a:xfrm>
          <a:prstGeom prst="rect">
            <a:avLst/>
          </a:prstGeom>
          <a:noFill/>
          <a:ln/>
        </p:spPr>
        <p:txBody>
          <a:bodyPr wrap="square" rtlCol="0" anchor="ctr"/>
          <a:lstStyle/>
          <a:p>
            <a:pPr marL="0" indent="0" algn="ctr">
              <a:buNone/>
            </a:pPr>
            <a:r>
              <a:rPr lang="en-US" sz="3400" b="1" dirty="0">
                <a:solidFill>
                  <a:srgbClr val="1E7B4D"/>
                </a:solidFill>
                <a:latin typeface="Cambria" pitchFamily="34" charset="0"/>
                <a:ea typeface="Cambria" pitchFamily="34" charset="-122"/>
                <a:cs typeface="Cambria" pitchFamily="34" charset="-120"/>
              </a:rPr>
              <a:t>0.09%</a:t>
            </a:r>
            <a:endParaRPr lang="en-US" sz="3400" dirty="0"/>
          </a:p>
        </p:txBody>
      </p:sp>
      <p:sp>
        <p:nvSpPr>
          <p:cNvPr id="16" name="Text 13"/>
          <p:cNvSpPr/>
          <p:nvPr/>
        </p:nvSpPr>
        <p:spPr>
          <a:xfrm>
            <a:off x="9665208" y="4251960"/>
            <a:ext cx="1746504" cy="438912"/>
          </a:xfrm>
          <a:prstGeom prst="rect">
            <a:avLst/>
          </a:prstGeom>
          <a:noFill/>
          <a:ln/>
        </p:spPr>
        <p:txBody>
          <a:bodyPr wrap="square" rtlCol="0" anchor="ctr"/>
          <a:lstStyle/>
          <a:p>
            <a:pPr marL="0" indent="0" algn="ctr">
              <a:buNone/>
            </a:pPr>
            <a:r>
              <a:rPr lang="en-US" sz="1100" dirty="0">
                <a:solidFill>
                  <a:srgbClr val="4A4F57"/>
                </a:solidFill>
                <a:latin typeface="Calibri" pitchFamily="34" charset="0"/>
                <a:ea typeface="Calibri" pitchFamily="34" charset="-122"/>
                <a:cs typeface="Calibri" pitchFamily="34" charset="-120"/>
              </a:rPr>
              <a:t>fraud rate,</a:t>
            </a:r>
            <a:endParaRPr lang="en-US" sz="1100" dirty="0"/>
          </a:p>
          <a:p>
            <a:pPr marL="0" indent="0" algn="ctr">
              <a:buNone/>
            </a:pPr>
            <a:r>
              <a:rPr lang="en-US" sz="1100" dirty="0">
                <a:solidFill>
                  <a:srgbClr val="4A4F57"/>
                </a:solidFill>
                <a:latin typeface="Calibri" pitchFamily="34" charset="0"/>
                <a:ea typeface="Calibri" pitchFamily="34" charset="-122"/>
                <a:cs typeface="Calibri" pitchFamily="34" charset="-120"/>
              </a:rPr>
              <a:t>busy window</a:t>
            </a:r>
            <a:endParaRPr lang="en-US" sz="1100" dirty="0"/>
          </a:p>
        </p:txBody>
      </p:sp>
      <p:sp>
        <p:nvSpPr>
          <p:cNvPr id="17" name="Text 14"/>
          <p:cNvSpPr/>
          <p:nvPr/>
        </p:nvSpPr>
        <p:spPr>
          <a:xfrm>
            <a:off x="7406640" y="4956048"/>
            <a:ext cx="4114800" cy="548640"/>
          </a:xfrm>
          <a:prstGeom prst="rect">
            <a:avLst/>
          </a:prstGeom>
          <a:noFill/>
          <a:ln/>
        </p:spPr>
        <p:txBody>
          <a:bodyPr wrap="square" rtlCol="0" anchor="ctr"/>
          <a:lstStyle/>
          <a:p>
            <a:pPr marL="0" indent="0">
              <a:buNone/>
            </a:pPr>
            <a:r>
              <a:rPr lang="en-US" sz="1200" dirty="0">
                <a:solidFill>
                  <a:srgbClr val="4A4F57"/>
                </a:solidFill>
                <a:latin typeface="Calibri" pitchFamily="34" charset="0"/>
                <a:ea typeface="Calibri" pitchFamily="34" charset="-122"/>
                <a:cs typeface="Calibri" pitchFamily="34" charset="-120"/>
              </a:rPr>
              <a:t>The quiet window is only 1.2 percent of traffic, so it is a small, cheap area to watch closely.</a:t>
            </a:r>
            <a:endParaRPr lang="en-US" sz="1200" dirty="0"/>
          </a:p>
        </p:txBody>
      </p:sp>
      <p:pic>
        <p:nvPicPr>
          <p:cNvPr id="19" name="Picture 18">
            <a:extLst>
              <a:ext uri="{FF2B5EF4-FFF2-40B4-BE49-F238E27FC236}">
                <a16:creationId xmlns:a16="http://schemas.microsoft.com/office/drawing/2014/main" id="{73DB80FF-556B-116C-6C61-B9F8614C1EF2}"/>
              </a:ext>
            </a:extLst>
          </p:cNvPr>
          <p:cNvPicPr>
            <a:picLocks noChangeAspect="1"/>
          </p:cNvPicPr>
          <p:nvPr/>
        </p:nvPicPr>
        <p:blipFill>
          <a:blip r:embed="rId3"/>
          <a:stretch>
            <a:fillRect/>
          </a:stretch>
        </p:blipFill>
        <p:spPr>
          <a:xfrm>
            <a:off x="306308" y="1417314"/>
            <a:ext cx="6734572" cy="34290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994392" cy="548640"/>
          </a:xfrm>
          <a:prstGeom prst="rect">
            <a:avLst/>
          </a:prstGeom>
          <a:noFill/>
          <a:ln/>
        </p:spPr>
        <p:txBody>
          <a:bodyPr wrap="square" rtlCol="0" anchor="ctr"/>
          <a:lstStyle/>
          <a:p>
            <a:pPr marL="0" indent="0">
              <a:buNone/>
            </a:pPr>
            <a:r>
              <a:rPr lang="en-US" sz="3000" b="1" dirty="0">
                <a:solidFill>
                  <a:srgbClr val="0033A1"/>
                </a:solidFill>
                <a:latin typeface="Cambria" pitchFamily="34" charset="0"/>
                <a:ea typeface="Cambria" pitchFamily="34" charset="-122"/>
                <a:cs typeface="Cambria" pitchFamily="34" charset="-120"/>
              </a:rPr>
              <a:t>The Trap We Found</a:t>
            </a:r>
            <a:endParaRPr lang="en-US" sz="3000" dirty="0"/>
          </a:p>
        </p:txBody>
      </p:sp>
      <p:sp>
        <p:nvSpPr>
          <p:cNvPr id="3" name="Text 1"/>
          <p:cNvSpPr/>
          <p:nvPr/>
        </p:nvSpPr>
        <p:spPr>
          <a:xfrm>
            <a:off x="640080" y="941832"/>
            <a:ext cx="9994392" cy="310896"/>
          </a:xfrm>
          <a:prstGeom prst="rect">
            <a:avLst/>
          </a:prstGeom>
          <a:noFill/>
          <a:ln/>
        </p:spPr>
        <p:txBody>
          <a:bodyPr wrap="square" rtlCol="0" anchor="ctr"/>
          <a:lstStyle/>
          <a:p>
            <a:pPr marL="0" indent="0">
              <a:buNone/>
            </a:pPr>
            <a:r>
              <a:rPr lang="en-US" sz="1400" dirty="0">
                <a:solidFill>
                  <a:srgbClr val="4A4F57"/>
                </a:solidFill>
                <a:latin typeface="Calibri" pitchFamily="34" charset="0"/>
                <a:ea typeface="Calibri" pitchFamily="34" charset="-122"/>
                <a:cs typeface="Calibri" pitchFamily="34" charset="-120"/>
              </a:rPr>
              <a:t>This dataset makes fraud predictable for the wrong reason</a:t>
            </a:r>
            <a:endParaRPr lang="en-US" sz="1400" dirty="0"/>
          </a:p>
        </p:txBody>
      </p:sp>
      <p:sp>
        <p:nvSpPr>
          <p:cNvPr id="4" name="Text 2"/>
          <p:cNvSpPr/>
          <p:nvPr/>
        </p:nvSpPr>
        <p:spPr>
          <a:xfrm>
            <a:off x="10725912" y="384048"/>
            <a:ext cx="822960" cy="457200"/>
          </a:xfrm>
          <a:prstGeom prst="rect">
            <a:avLst/>
          </a:prstGeom>
          <a:noFill/>
          <a:ln/>
        </p:spPr>
        <p:txBody>
          <a:bodyPr wrap="square" rtlCol="0" anchor="ctr"/>
          <a:lstStyle/>
          <a:p>
            <a:pPr marL="0" indent="0" algn="r">
              <a:buNone/>
            </a:pPr>
            <a:r>
              <a:rPr lang="en-US" sz="2600" b="1" dirty="0">
                <a:solidFill>
                  <a:srgbClr val="D5DEEF"/>
                </a:solidFill>
                <a:latin typeface="Cambria" pitchFamily="34" charset="0"/>
                <a:ea typeface="Cambria" pitchFamily="34" charset="-122"/>
                <a:cs typeface="Cambria" pitchFamily="34" charset="-120"/>
              </a:rPr>
              <a:t>05</a:t>
            </a:r>
            <a:endParaRPr lang="en-US" sz="2600" dirty="0"/>
          </a:p>
        </p:txBody>
      </p:sp>
      <p:sp>
        <p:nvSpPr>
          <p:cNvPr id="5" name="Text 3"/>
          <p:cNvSpPr/>
          <p:nvPr/>
        </p:nvSpPr>
        <p:spPr>
          <a:xfrm>
            <a:off x="640080" y="6437376"/>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FinTech Titans  |  Catching Fraud in Mobile Money</a:t>
            </a:r>
            <a:endParaRPr lang="en-US" sz="900" dirty="0"/>
          </a:p>
        </p:txBody>
      </p:sp>
      <p:sp>
        <p:nvSpPr>
          <p:cNvPr id="6" name="Shape 4"/>
          <p:cNvSpPr/>
          <p:nvPr/>
        </p:nvSpPr>
        <p:spPr>
          <a:xfrm>
            <a:off x="548640" y="1554480"/>
            <a:ext cx="5440680" cy="2011680"/>
          </a:xfrm>
          <a:prstGeom prst="roundRect">
            <a:avLst>
              <a:gd name="adj" fmla="val 2273"/>
            </a:avLst>
          </a:prstGeom>
          <a:solidFill>
            <a:srgbClr val="F2F5FB"/>
          </a:solidFill>
          <a:ln w="12700">
            <a:solidFill>
              <a:srgbClr val="D5DEEF"/>
            </a:solidFill>
            <a:prstDash val="solid"/>
          </a:ln>
        </p:spPr>
        <p:txBody>
          <a:bodyPr/>
          <a:lstStyle/>
          <a:p>
            <a:endParaRPr lang="en-US"/>
          </a:p>
        </p:txBody>
      </p:sp>
      <p:sp>
        <p:nvSpPr>
          <p:cNvPr id="7" name="Text 5"/>
          <p:cNvSpPr/>
          <p:nvPr/>
        </p:nvSpPr>
        <p:spPr>
          <a:xfrm>
            <a:off x="777240" y="1719072"/>
            <a:ext cx="4983480" cy="274320"/>
          </a:xfrm>
          <a:prstGeom prst="rect">
            <a:avLst/>
          </a:prstGeom>
          <a:noFill/>
          <a:ln/>
        </p:spPr>
        <p:txBody>
          <a:bodyPr wrap="square" rtlCol="0" anchor="ctr"/>
          <a:lstStyle/>
          <a:p>
            <a:pPr marL="0" indent="0">
              <a:buNone/>
            </a:pPr>
            <a:r>
              <a:rPr lang="en-US" sz="1500" b="1" dirty="0">
                <a:solidFill>
                  <a:srgbClr val="D0021B"/>
                </a:solidFill>
                <a:latin typeface="Calibri" pitchFamily="34" charset="0"/>
                <a:ea typeface="Calibri" pitchFamily="34" charset="-122"/>
                <a:cs typeface="Calibri" pitchFamily="34" charset="-120"/>
              </a:rPr>
              <a:t>The shortcut</a:t>
            </a:r>
            <a:endParaRPr lang="en-US" sz="1500" dirty="0"/>
          </a:p>
        </p:txBody>
      </p:sp>
      <p:sp>
        <p:nvSpPr>
          <p:cNvPr id="8" name="Text 6"/>
          <p:cNvSpPr/>
          <p:nvPr/>
        </p:nvSpPr>
        <p:spPr>
          <a:xfrm>
            <a:off x="777240" y="2048256"/>
            <a:ext cx="4983480" cy="9144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In 97.5 percent of frauds the amount equals the account balance </a:t>
            </a:r>
            <a:r>
              <a:rPr lang="en-US" sz="1300" b="1" dirty="0">
                <a:solidFill>
                  <a:srgbClr val="0033A1"/>
                </a:solidFill>
                <a:latin typeface="Calibri" pitchFamily="34" charset="0"/>
                <a:ea typeface="Calibri" pitchFamily="34" charset="-122"/>
                <a:cs typeface="Calibri" pitchFamily="34" charset="-120"/>
              </a:rPr>
              <a:t>to the cent</a:t>
            </a:r>
            <a:r>
              <a:rPr lang="en-US" sz="1300" dirty="0">
                <a:solidFill>
                  <a:srgbClr val="1A1A1A"/>
                </a:solidFill>
                <a:latin typeface="Calibri" pitchFamily="34" charset="0"/>
                <a:ea typeface="Calibri" pitchFamily="34" charset="-122"/>
                <a:cs typeface="Calibri" pitchFamily="34" charset="-120"/>
              </a:rPr>
              <a:t>. In legitimate transactions this happens 0.0 percent of the time.</a:t>
            </a:r>
            <a:endParaRPr lang="en-US" sz="1300" dirty="0"/>
          </a:p>
        </p:txBody>
      </p:sp>
      <p:sp>
        <p:nvSpPr>
          <p:cNvPr id="9" name="Text 7"/>
          <p:cNvSpPr/>
          <p:nvPr/>
        </p:nvSpPr>
        <p:spPr>
          <a:xfrm>
            <a:off x="777240" y="2926080"/>
            <a:ext cx="4983480" cy="502920"/>
          </a:xfrm>
          <a:prstGeom prst="rect">
            <a:avLst/>
          </a:prstGeom>
          <a:noFill/>
          <a:ln/>
        </p:spPr>
        <p:txBody>
          <a:bodyPr wrap="square" rtlCol="0" anchor="ctr"/>
          <a:lstStyle/>
          <a:p>
            <a:pPr marL="0" indent="0">
              <a:buNone/>
            </a:pPr>
            <a:r>
              <a:rPr lang="en-US" sz="1200" b="1" dirty="0">
                <a:solidFill>
                  <a:srgbClr val="D0021B"/>
                </a:solidFill>
                <a:latin typeface="Calibri" pitchFamily="34" charset="0"/>
                <a:ea typeface="Calibri" pitchFamily="34" charset="-122"/>
                <a:cs typeface="Calibri" pitchFamily="34" charset="-120"/>
              </a:rPr>
              <a:t>Two boolean rules identify 99.8% of all fraud at 99.2% precision, with no model at all.</a:t>
            </a:r>
            <a:endParaRPr lang="en-US" sz="1200" dirty="0"/>
          </a:p>
        </p:txBody>
      </p:sp>
      <p:sp>
        <p:nvSpPr>
          <p:cNvPr id="10" name="Shape 8"/>
          <p:cNvSpPr/>
          <p:nvPr/>
        </p:nvSpPr>
        <p:spPr>
          <a:xfrm>
            <a:off x="6263640" y="1554480"/>
            <a:ext cx="5257800" cy="2011680"/>
          </a:xfrm>
          <a:prstGeom prst="roundRect">
            <a:avLst>
              <a:gd name="adj" fmla="val 2273"/>
            </a:avLst>
          </a:prstGeom>
          <a:solidFill>
            <a:srgbClr val="F2F5FB"/>
          </a:solidFill>
          <a:ln w="12700">
            <a:solidFill>
              <a:srgbClr val="D5DEEF"/>
            </a:solidFill>
            <a:prstDash val="solid"/>
          </a:ln>
        </p:spPr>
        <p:txBody>
          <a:bodyPr/>
          <a:lstStyle/>
          <a:p>
            <a:endParaRPr lang="en-US"/>
          </a:p>
        </p:txBody>
      </p:sp>
      <p:sp>
        <p:nvSpPr>
          <p:cNvPr id="11" name="Text 9"/>
          <p:cNvSpPr/>
          <p:nvPr/>
        </p:nvSpPr>
        <p:spPr>
          <a:xfrm>
            <a:off x="6492240" y="1719072"/>
            <a:ext cx="4800600" cy="274320"/>
          </a:xfrm>
          <a:prstGeom prst="rect">
            <a:avLst/>
          </a:prstGeom>
          <a:noFill/>
          <a:ln/>
        </p:spPr>
        <p:txBody>
          <a:bodyPr wrap="square" rtlCol="0" anchor="ctr"/>
          <a:lstStyle/>
          <a:p>
            <a:pPr marL="0" indent="0">
              <a:buNone/>
            </a:pPr>
            <a:r>
              <a:rPr lang="en-US" sz="1500" b="1" dirty="0">
                <a:solidFill>
                  <a:srgbClr val="1E7B4D"/>
                </a:solidFill>
                <a:latin typeface="Calibri" pitchFamily="34" charset="0"/>
                <a:ea typeface="Calibri" pitchFamily="34" charset="-122"/>
                <a:cs typeface="Calibri" pitchFamily="34" charset="-120"/>
              </a:rPr>
              <a:t>Why we refused to use it</a:t>
            </a:r>
            <a:endParaRPr lang="en-US" sz="1500" dirty="0"/>
          </a:p>
        </p:txBody>
      </p:sp>
      <p:sp>
        <p:nvSpPr>
          <p:cNvPr id="12" name="Text 10"/>
          <p:cNvSpPr/>
          <p:nvPr/>
        </p:nvSpPr>
        <p:spPr>
          <a:xfrm>
            <a:off x="6492240" y="2048256"/>
            <a:ext cx="4800600" cy="13716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Real fraud does not empty an account to the last cent almost every time. This is an artifact of how the simulator was built. A model leaning on it would collapse on live data, and reporting those scores would misrepresent what the bank can expect.</a:t>
            </a:r>
            <a:endParaRPr lang="en-US" sz="1300" dirty="0"/>
          </a:p>
        </p:txBody>
      </p:sp>
      <p:graphicFrame>
        <p:nvGraphicFramePr>
          <p:cNvPr id="13" name="Chart 0"/>
          <p:cNvGraphicFramePr/>
          <p:nvPr/>
        </p:nvGraphicFramePr>
        <p:xfrm>
          <a:off x="548640" y="3749040"/>
          <a:ext cx="10972800" cy="173736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994392" cy="548640"/>
          </a:xfrm>
          <a:prstGeom prst="rect">
            <a:avLst/>
          </a:prstGeom>
          <a:noFill/>
          <a:ln/>
        </p:spPr>
        <p:txBody>
          <a:bodyPr wrap="square" rtlCol="0" anchor="ctr"/>
          <a:lstStyle/>
          <a:p>
            <a:pPr marL="0" indent="0">
              <a:buNone/>
            </a:pPr>
            <a:r>
              <a:rPr lang="en-US" sz="3000" b="1" dirty="0">
                <a:solidFill>
                  <a:srgbClr val="0033A1"/>
                </a:solidFill>
                <a:latin typeface="Cambria" pitchFamily="34" charset="0"/>
                <a:ea typeface="Cambria" pitchFamily="34" charset="-122"/>
                <a:cs typeface="Cambria" pitchFamily="34" charset="-120"/>
              </a:rPr>
              <a:t>How We Modelled It</a:t>
            </a:r>
            <a:endParaRPr lang="en-US" sz="3000" dirty="0"/>
          </a:p>
        </p:txBody>
      </p:sp>
      <p:sp>
        <p:nvSpPr>
          <p:cNvPr id="3" name="Text 1"/>
          <p:cNvSpPr/>
          <p:nvPr/>
        </p:nvSpPr>
        <p:spPr>
          <a:xfrm>
            <a:off x="640080" y="941832"/>
            <a:ext cx="9994392" cy="310896"/>
          </a:xfrm>
          <a:prstGeom prst="rect">
            <a:avLst/>
          </a:prstGeom>
          <a:noFill/>
          <a:ln/>
        </p:spPr>
        <p:txBody>
          <a:bodyPr wrap="square" rtlCol="0" anchor="ctr"/>
          <a:lstStyle/>
          <a:p>
            <a:pPr marL="0" indent="0">
              <a:buNone/>
            </a:pPr>
            <a:r>
              <a:rPr lang="en-US" sz="1400" dirty="0">
                <a:solidFill>
                  <a:srgbClr val="4A4F57"/>
                </a:solidFill>
                <a:latin typeface="Calibri" pitchFamily="34" charset="0"/>
                <a:ea typeface="Calibri" pitchFamily="34" charset="-122"/>
                <a:cs typeface="Calibri" pitchFamily="34" charset="-120"/>
              </a:rPr>
              <a:t>Four models, three feature sets, two splitting strategies</a:t>
            </a:r>
            <a:endParaRPr lang="en-US" sz="1400" dirty="0"/>
          </a:p>
        </p:txBody>
      </p:sp>
      <p:sp>
        <p:nvSpPr>
          <p:cNvPr id="4" name="Text 2"/>
          <p:cNvSpPr/>
          <p:nvPr/>
        </p:nvSpPr>
        <p:spPr>
          <a:xfrm>
            <a:off x="10725912" y="384048"/>
            <a:ext cx="822960" cy="457200"/>
          </a:xfrm>
          <a:prstGeom prst="rect">
            <a:avLst/>
          </a:prstGeom>
          <a:noFill/>
          <a:ln/>
        </p:spPr>
        <p:txBody>
          <a:bodyPr wrap="square" rtlCol="0" anchor="ctr"/>
          <a:lstStyle/>
          <a:p>
            <a:pPr marL="0" indent="0" algn="r">
              <a:buNone/>
            </a:pPr>
            <a:r>
              <a:rPr lang="en-US" sz="2600" b="1" dirty="0">
                <a:solidFill>
                  <a:srgbClr val="D5DEEF"/>
                </a:solidFill>
                <a:latin typeface="Cambria" pitchFamily="34" charset="0"/>
                <a:ea typeface="Cambria" pitchFamily="34" charset="-122"/>
                <a:cs typeface="Cambria" pitchFamily="34" charset="-120"/>
              </a:rPr>
              <a:t>06</a:t>
            </a:r>
            <a:endParaRPr lang="en-US" sz="2600" dirty="0"/>
          </a:p>
        </p:txBody>
      </p:sp>
      <p:sp>
        <p:nvSpPr>
          <p:cNvPr id="5" name="Text 3"/>
          <p:cNvSpPr/>
          <p:nvPr/>
        </p:nvSpPr>
        <p:spPr>
          <a:xfrm>
            <a:off x="640080" y="6437376"/>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FinTech Titans  |  Catching Fraud in Mobile Money</a:t>
            </a:r>
            <a:endParaRPr lang="en-US" sz="900" dirty="0"/>
          </a:p>
        </p:txBody>
      </p:sp>
      <p:sp>
        <p:nvSpPr>
          <p:cNvPr id="6" name="Shape 4"/>
          <p:cNvSpPr/>
          <p:nvPr/>
        </p:nvSpPr>
        <p:spPr>
          <a:xfrm>
            <a:off x="548640" y="1554480"/>
            <a:ext cx="5760720" cy="868680"/>
          </a:xfrm>
          <a:prstGeom prst="roundRect">
            <a:avLst>
              <a:gd name="adj" fmla="val 5263"/>
            </a:avLst>
          </a:prstGeom>
          <a:solidFill>
            <a:srgbClr val="F2F5FB"/>
          </a:solidFill>
          <a:ln w="12700">
            <a:solidFill>
              <a:srgbClr val="D5DEEF"/>
            </a:solidFill>
            <a:prstDash val="solid"/>
          </a:ln>
        </p:spPr>
        <p:txBody>
          <a:bodyPr/>
          <a:lstStyle/>
          <a:p>
            <a:endParaRPr lang="en-US"/>
          </a:p>
        </p:txBody>
      </p:sp>
      <p:sp>
        <p:nvSpPr>
          <p:cNvPr id="7" name="Text 5"/>
          <p:cNvSpPr/>
          <p:nvPr/>
        </p:nvSpPr>
        <p:spPr>
          <a:xfrm>
            <a:off x="777240" y="1664208"/>
            <a:ext cx="2926080" cy="274320"/>
          </a:xfrm>
          <a:prstGeom prst="rect">
            <a:avLst/>
          </a:prstGeom>
          <a:noFill/>
          <a:ln/>
        </p:spPr>
        <p:txBody>
          <a:bodyPr wrap="square" rtlCol="0" anchor="ctr"/>
          <a:lstStyle/>
          <a:p>
            <a:pPr marL="0" indent="0">
              <a:buNone/>
            </a:pPr>
            <a:r>
              <a:rPr lang="en-US" sz="1400" b="1" dirty="0">
                <a:solidFill>
                  <a:srgbClr val="D0021B"/>
                </a:solidFill>
                <a:latin typeface="Calibri" pitchFamily="34" charset="0"/>
                <a:ea typeface="Calibri" pitchFamily="34" charset="-122"/>
                <a:cs typeface="Calibri" pitchFamily="34" charset="-120"/>
              </a:rPr>
              <a:t>Logistic Regression</a:t>
            </a:r>
            <a:endParaRPr lang="en-US" sz="1400" dirty="0"/>
          </a:p>
        </p:txBody>
      </p:sp>
      <p:sp>
        <p:nvSpPr>
          <p:cNvPr id="8" name="Text 6"/>
          <p:cNvSpPr/>
          <p:nvPr/>
        </p:nvSpPr>
        <p:spPr>
          <a:xfrm>
            <a:off x="777240" y="1956816"/>
            <a:ext cx="5303520" cy="384048"/>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The baseline. Simple, readable, sets the bar everything else must clear.</a:t>
            </a:r>
            <a:endParaRPr lang="en-US" sz="1150" dirty="0"/>
          </a:p>
        </p:txBody>
      </p:sp>
      <p:sp>
        <p:nvSpPr>
          <p:cNvPr id="9" name="Shape 7"/>
          <p:cNvSpPr/>
          <p:nvPr/>
        </p:nvSpPr>
        <p:spPr>
          <a:xfrm>
            <a:off x="548640" y="2560320"/>
            <a:ext cx="5760720" cy="868680"/>
          </a:xfrm>
          <a:prstGeom prst="roundRect">
            <a:avLst>
              <a:gd name="adj" fmla="val 5263"/>
            </a:avLst>
          </a:prstGeom>
          <a:solidFill>
            <a:srgbClr val="F2F5FB"/>
          </a:solidFill>
          <a:ln w="12700">
            <a:solidFill>
              <a:srgbClr val="D5DEEF"/>
            </a:solidFill>
            <a:prstDash val="solid"/>
          </a:ln>
        </p:spPr>
        <p:txBody>
          <a:bodyPr/>
          <a:lstStyle/>
          <a:p>
            <a:endParaRPr lang="en-US"/>
          </a:p>
        </p:txBody>
      </p:sp>
      <p:sp>
        <p:nvSpPr>
          <p:cNvPr id="10" name="Text 8"/>
          <p:cNvSpPr/>
          <p:nvPr/>
        </p:nvSpPr>
        <p:spPr>
          <a:xfrm>
            <a:off x="777240" y="2670048"/>
            <a:ext cx="2926080" cy="274320"/>
          </a:xfrm>
          <a:prstGeom prst="rect">
            <a:avLst/>
          </a:prstGeom>
          <a:noFill/>
          <a:ln/>
        </p:spPr>
        <p:txBody>
          <a:bodyPr wrap="square" rtlCol="0" anchor="ctr"/>
          <a:lstStyle/>
          <a:p>
            <a:pPr marL="0" indent="0">
              <a:buNone/>
            </a:pPr>
            <a:r>
              <a:rPr lang="en-US" sz="1400" b="1" dirty="0">
                <a:solidFill>
                  <a:srgbClr val="0033A1"/>
                </a:solidFill>
                <a:latin typeface="Calibri" pitchFamily="34" charset="0"/>
                <a:ea typeface="Calibri" pitchFamily="34" charset="-122"/>
                <a:cs typeface="Calibri" pitchFamily="34" charset="-120"/>
              </a:rPr>
              <a:t>Decision Tree</a:t>
            </a:r>
            <a:endParaRPr lang="en-US" sz="1400" dirty="0"/>
          </a:p>
        </p:txBody>
      </p:sp>
      <p:sp>
        <p:nvSpPr>
          <p:cNvPr id="11" name="Text 9"/>
          <p:cNvSpPr/>
          <p:nvPr/>
        </p:nvSpPr>
        <p:spPr>
          <a:xfrm>
            <a:off x="777240" y="2962656"/>
            <a:ext cx="5303520" cy="384048"/>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One tree. Tests whether non linearity alone explains the gain.</a:t>
            </a:r>
            <a:endParaRPr lang="en-US" sz="1150" dirty="0"/>
          </a:p>
        </p:txBody>
      </p:sp>
      <p:sp>
        <p:nvSpPr>
          <p:cNvPr id="12" name="Shape 10"/>
          <p:cNvSpPr/>
          <p:nvPr/>
        </p:nvSpPr>
        <p:spPr>
          <a:xfrm>
            <a:off x="548640" y="3566160"/>
            <a:ext cx="5760720" cy="868680"/>
          </a:xfrm>
          <a:prstGeom prst="roundRect">
            <a:avLst>
              <a:gd name="adj" fmla="val 5263"/>
            </a:avLst>
          </a:prstGeom>
          <a:solidFill>
            <a:srgbClr val="F2F5FB"/>
          </a:solidFill>
          <a:ln w="12700">
            <a:solidFill>
              <a:srgbClr val="D5DEEF"/>
            </a:solidFill>
            <a:prstDash val="solid"/>
          </a:ln>
        </p:spPr>
        <p:txBody>
          <a:bodyPr/>
          <a:lstStyle/>
          <a:p>
            <a:endParaRPr lang="en-US"/>
          </a:p>
        </p:txBody>
      </p:sp>
      <p:sp>
        <p:nvSpPr>
          <p:cNvPr id="13" name="Text 11"/>
          <p:cNvSpPr/>
          <p:nvPr/>
        </p:nvSpPr>
        <p:spPr>
          <a:xfrm>
            <a:off x="777240" y="3675888"/>
            <a:ext cx="2926080" cy="274320"/>
          </a:xfrm>
          <a:prstGeom prst="rect">
            <a:avLst/>
          </a:prstGeom>
          <a:noFill/>
          <a:ln/>
        </p:spPr>
        <p:txBody>
          <a:bodyPr wrap="square" rtlCol="0" anchor="ctr"/>
          <a:lstStyle/>
          <a:p>
            <a:pPr marL="0" indent="0">
              <a:buNone/>
            </a:pPr>
            <a:r>
              <a:rPr lang="en-US" sz="1400" b="1" dirty="0">
                <a:solidFill>
                  <a:srgbClr val="0033A1"/>
                </a:solidFill>
                <a:latin typeface="Calibri" pitchFamily="34" charset="0"/>
                <a:ea typeface="Calibri" pitchFamily="34" charset="-122"/>
                <a:cs typeface="Calibri" pitchFamily="34" charset="-120"/>
              </a:rPr>
              <a:t>Random Forest</a:t>
            </a:r>
            <a:endParaRPr lang="en-US" sz="1400" dirty="0"/>
          </a:p>
        </p:txBody>
      </p:sp>
      <p:sp>
        <p:nvSpPr>
          <p:cNvPr id="14" name="Text 12"/>
          <p:cNvSpPr/>
          <p:nvPr/>
        </p:nvSpPr>
        <p:spPr>
          <a:xfrm>
            <a:off x="777240" y="3968496"/>
            <a:ext cx="5303520" cy="384048"/>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Bagged ensemble. Tests whether averaging many trees helps.</a:t>
            </a:r>
            <a:endParaRPr lang="en-US" sz="1150" dirty="0"/>
          </a:p>
        </p:txBody>
      </p:sp>
      <p:sp>
        <p:nvSpPr>
          <p:cNvPr id="15" name="Shape 13"/>
          <p:cNvSpPr/>
          <p:nvPr/>
        </p:nvSpPr>
        <p:spPr>
          <a:xfrm>
            <a:off x="548640" y="4572000"/>
            <a:ext cx="5760720" cy="868680"/>
          </a:xfrm>
          <a:prstGeom prst="roundRect">
            <a:avLst>
              <a:gd name="adj" fmla="val 5263"/>
            </a:avLst>
          </a:prstGeom>
          <a:solidFill>
            <a:srgbClr val="F2F5FB"/>
          </a:solidFill>
          <a:ln w="12700">
            <a:solidFill>
              <a:srgbClr val="D5DEEF"/>
            </a:solidFill>
            <a:prstDash val="solid"/>
          </a:ln>
        </p:spPr>
        <p:txBody>
          <a:bodyPr/>
          <a:lstStyle/>
          <a:p>
            <a:endParaRPr lang="en-US"/>
          </a:p>
        </p:txBody>
      </p:sp>
      <p:sp>
        <p:nvSpPr>
          <p:cNvPr id="16" name="Text 14"/>
          <p:cNvSpPr/>
          <p:nvPr/>
        </p:nvSpPr>
        <p:spPr>
          <a:xfrm>
            <a:off x="777240" y="4681728"/>
            <a:ext cx="2926080" cy="274320"/>
          </a:xfrm>
          <a:prstGeom prst="rect">
            <a:avLst/>
          </a:prstGeom>
          <a:noFill/>
          <a:ln/>
        </p:spPr>
        <p:txBody>
          <a:bodyPr wrap="square" rtlCol="0" anchor="ctr"/>
          <a:lstStyle/>
          <a:p>
            <a:pPr marL="0" indent="0">
              <a:buNone/>
            </a:pPr>
            <a:r>
              <a:rPr lang="en-US" sz="1400" b="1" dirty="0">
                <a:solidFill>
                  <a:srgbClr val="1E7B4D"/>
                </a:solidFill>
                <a:latin typeface="Calibri" pitchFamily="34" charset="0"/>
                <a:ea typeface="Calibri" pitchFamily="34" charset="-122"/>
                <a:cs typeface="Calibri" pitchFamily="34" charset="-120"/>
              </a:rPr>
              <a:t>XGBoost</a:t>
            </a:r>
            <a:endParaRPr lang="en-US" sz="1400" dirty="0"/>
          </a:p>
        </p:txBody>
      </p:sp>
      <p:sp>
        <p:nvSpPr>
          <p:cNvPr id="17" name="Text 15"/>
          <p:cNvSpPr/>
          <p:nvPr/>
        </p:nvSpPr>
        <p:spPr>
          <a:xfrm>
            <a:off x="777240" y="4974336"/>
            <a:ext cx="5303520" cy="384048"/>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Boosted ensemble. Our eventual winner on every feature set.</a:t>
            </a:r>
            <a:endParaRPr lang="en-US" sz="1150" dirty="0"/>
          </a:p>
        </p:txBody>
      </p:sp>
      <p:sp>
        <p:nvSpPr>
          <p:cNvPr id="18" name="Shape 16"/>
          <p:cNvSpPr/>
          <p:nvPr/>
        </p:nvSpPr>
        <p:spPr>
          <a:xfrm>
            <a:off x="6629400" y="1554480"/>
            <a:ext cx="4892040" cy="2011680"/>
          </a:xfrm>
          <a:prstGeom prst="roundRect">
            <a:avLst>
              <a:gd name="adj" fmla="val 2273"/>
            </a:avLst>
          </a:prstGeom>
          <a:solidFill>
            <a:srgbClr val="F2F5FB"/>
          </a:solidFill>
          <a:ln w="12700">
            <a:solidFill>
              <a:srgbClr val="D5DEEF"/>
            </a:solidFill>
            <a:prstDash val="solid"/>
          </a:ln>
        </p:spPr>
        <p:txBody>
          <a:bodyPr/>
          <a:lstStyle/>
          <a:p>
            <a:endParaRPr lang="en-US"/>
          </a:p>
        </p:txBody>
      </p:sp>
      <p:sp>
        <p:nvSpPr>
          <p:cNvPr id="19" name="Text 17"/>
          <p:cNvSpPr/>
          <p:nvPr/>
        </p:nvSpPr>
        <p:spPr>
          <a:xfrm>
            <a:off x="6858000" y="1719072"/>
            <a:ext cx="4434840" cy="274320"/>
          </a:xfrm>
          <a:prstGeom prst="rect">
            <a:avLst/>
          </a:prstGeom>
          <a:noFill/>
          <a:ln/>
        </p:spPr>
        <p:txBody>
          <a:bodyPr wrap="square" rtlCol="0" anchor="ctr"/>
          <a:lstStyle/>
          <a:p>
            <a:pPr marL="0" indent="0">
              <a:buNone/>
            </a:pPr>
            <a:r>
              <a:rPr lang="en-US" sz="1500" b="1" dirty="0">
                <a:solidFill>
                  <a:srgbClr val="0033A1"/>
                </a:solidFill>
                <a:latin typeface="Calibri" pitchFamily="34" charset="0"/>
                <a:ea typeface="Calibri" pitchFamily="34" charset="-122"/>
                <a:cs typeface="Calibri" pitchFamily="34" charset="-120"/>
              </a:rPr>
              <a:t>Three feature sets</a:t>
            </a:r>
            <a:endParaRPr lang="en-US" sz="1500" dirty="0"/>
          </a:p>
        </p:txBody>
      </p:sp>
      <p:sp>
        <p:nvSpPr>
          <p:cNvPr id="20" name="Text 18"/>
          <p:cNvSpPr/>
          <p:nvPr/>
        </p:nvSpPr>
        <p:spPr>
          <a:xfrm>
            <a:off x="6858000" y="2084832"/>
            <a:ext cx="4434840" cy="1371600"/>
          </a:xfrm>
          <a:prstGeom prst="rect">
            <a:avLst/>
          </a:prstGeom>
          <a:noFill/>
          <a:ln/>
        </p:spPr>
        <p:txBody>
          <a:bodyPr wrap="square" rtlCol="0" anchor="ctr"/>
          <a:lstStyle/>
          <a:p>
            <a:pPr marL="0" indent="0">
              <a:lnSpc>
                <a:spcPts val="2500"/>
              </a:lnSpc>
              <a:buNone/>
            </a:pPr>
            <a:r>
              <a:rPr lang="en-US" sz="1250" b="1" dirty="0">
                <a:solidFill>
                  <a:srgbClr val="1A1A1A"/>
                </a:solidFill>
                <a:latin typeface="Calibri" pitchFamily="34" charset="0"/>
                <a:ea typeface="Calibri" pitchFamily="34" charset="-122"/>
                <a:cs typeface="Calibri" pitchFamily="34" charset="-120"/>
              </a:rPr>
              <a:t>A   Basic</a:t>
            </a:r>
            <a:r>
              <a:rPr lang="en-US" sz="1250" dirty="0">
                <a:solidFill>
                  <a:srgbClr val="4A4F57"/>
                </a:solidFill>
                <a:latin typeface="Calibri" pitchFamily="34" charset="0"/>
                <a:ea typeface="Calibri" pitchFamily="34" charset="-122"/>
                <a:cs typeface="Calibri" pitchFamily="34" charset="-120"/>
              </a:rPr>
              <a:t>   amount, cycle position, type
</a:t>
            </a:r>
            <a:r>
              <a:rPr lang="en-US" sz="1250" b="1" dirty="0">
                <a:solidFill>
                  <a:srgbClr val="1E7B4D"/>
                </a:solidFill>
                <a:latin typeface="Calibri" pitchFamily="34" charset="0"/>
                <a:ea typeface="Calibri" pitchFamily="34" charset="-122"/>
                <a:cs typeface="Calibri" pitchFamily="34" charset="-120"/>
              </a:rPr>
              <a:t>B   With balances</a:t>
            </a:r>
            <a:r>
              <a:rPr lang="en-US" sz="1250" dirty="0">
                <a:solidFill>
                  <a:srgbClr val="4A4F57"/>
                </a:solidFill>
                <a:latin typeface="Calibri" pitchFamily="34" charset="0"/>
                <a:ea typeface="Calibri" pitchFamily="34" charset="-122"/>
                <a:cs typeface="Calibri" pitchFamily="34" charset="-120"/>
              </a:rPr>
              <a:t>   plus pre transaction balances
</a:t>
            </a:r>
            <a:r>
              <a:rPr lang="en-US" sz="1250" b="1" dirty="0">
                <a:solidFill>
                  <a:srgbClr val="D0021B"/>
                </a:solidFill>
                <a:latin typeface="Calibri" pitchFamily="34" charset="0"/>
                <a:ea typeface="Calibri" pitchFamily="34" charset="-122"/>
                <a:cs typeface="Calibri" pitchFamily="34" charset="-120"/>
              </a:rPr>
              <a:t>C   Balance errors</a:t>
            </a:r>
            <a:r>
              <a:rPr lang="en-US" sz="1250" dirty="0">
                <a:solidFill>
                  <a:srgbClr val="4A4F57"/>
                </a:solidFill>
                <a:latin typeface="Calibri" pitchFamily="34" charset="0"/>
                <a:ea typeface="Calibri" pitchFamily="34" charset="-122"/>
                <a:cs typeface="Calibri" pitchFamily="34" charset="-120"/>
              </a:rPr>
              <a:t>   plus the leaked columns</a:t>
            </a:r>
            <a:endParaRPr lang="en-US" sz="1250" dirty="0"/>
          </a:p>
        </p:txBody>
      </p:sp>
      <p:sp>
        <p:nvSpPr>
          <p:cNvPr id="21" name="Shape 19"/>
          <p:cNvSpPr/>
          <p:nvPr/>
        </p:nvSpPr>
        <p:spPr>
          <a:xfrm>
            <a:off x="6629400" y="3749040"/>
            <a:ext cx="4892040" cy="1828800"/>
          </a:xfrm>
          <a:prstGeom prst="roundRect">
            <a:avLst>
              <a:gd name="adj" fmla="val 2500"/>
            </a:avLst>
          </a:prstGeom>
          <a:solidFill>
            <a:srgbClr val="F2F5FB"/>
          </a:solidFill>
          <a:ln w="12700">
            <a:solidFill>
              <a:srgbClr val="D5DEEF"/>
            </a:solidFill>
            <a:prstDash val="solid"/>
          </a:ln>
        </p:spPr>
        <p:txBody>
          <a:bodyPr/>
          <a:lstStyle/>
          <a:p>
            <a:endParaRPr lang="en-US"/>
          </a:p>
        </p:txBody>
      </p:sp>
      <p:sp>
        <p:nvSpPr>
          <p:cNvPr id="22" name="Text 20"/>
          <p:cNvSpPr/>
          <p:nvPr/>
        </p:nvSpPr>
        <p:spPr>
          <a:xfrm>
            <a:off x="6858000" y="3913632"/>
            <a:ext cx="4434840" cy="274320"/>
          </a:xfrm>
          <a:prstGeom prst="rect">
            <a:avLst/>
          </a:prstGeom>
          <a:noFill/>
          <a:ln/>
        </p:spPr>
        <p:txBody>
          <a:bodyPr wrap="square" rtlCol="0" anchor="ctr"/>
          <a:lstStyle/>
          <a:p>
            <a:pPr marL="0" indent="0">
              <a:buNone/>
            </a:pPr>
            <a:r>
              <a:rPr lang="en-US" sz="1500" b="1" dirty="0">
                <a:solidFill>
                  <a:srgbClr val="0033A1"/>
                </a:solidFill>
                <a:latin typeface="Calibri" pitchFamily="34" charset="0"/>
                <a:ea typeface="Calibri" pitchFamily="34" charset="-122"/>
                <a:cs typeface="Calibri" pitchFamily="34" charset="-120"/>
              </a:rPr>
              <a:t>Two splitting strategies</a:t>
            </a:r>
            <a:endParaRPr lang="en-US" sz="1500" dirty="0"/>
          </a:p>
        </p:txBody>
      </p:sp>
      <p:sp>
        <p:nvSpPr>
          <p:cNvPr id="23" name="Text 21"/>
          <p:cNvSpPr/>
          <p:nvPr/>
        </p:nvSpPr>
        <p:spPr>
          <a:xfrm>
            <a:off x="6858000" y="4242816"/>
            <a:ext cx="4434840" cy="1188720"/>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Random stratified and time based. They agreed within 0.02 PR-AUC, confirming our result is not an artifact of shuffling fraud campaigns across the split.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994392" cy="548640"/>
          </a:xfrm>
          <a:prstGeom prst="rect">
            <a:avLst/>
          </a:prstGeom>
          <a:noFill/>
          <a:ln/>
        </p:spPr>
        <p:txBody>
          <a:bodyPr wrap="square" rtlCol="0" anchor="ctr"/>
          <a:lstStyle/>
          <a:p>
            <a:pPr marL="0" indent="0">
              <a:buNone/>
            </a:pPr>
            <a:r>
              <a:rPr lang="en-US" sz="3000" b="1" dirty="0">
                <a:solidFill>
                  <a:srgbClr val="0033A1"/>
                </a:solidFill>
                <a:latin typeface="Cambria" pitchFamily="34" charset="0"/>
                <a:ea typeface="Cambria" pitchFamily="34" charset="-122"/>
                <a:cs typeface="Cambria" pitchFamily="34" charset="-120"/>
              </a:rPr>
              <a:t>Results</a:t>
            </a:r>
            <a:endParaRPr lang="en-US" sz="3000" dirty="0"/>
          </a:p>
        </p:txBody>
      </p:sp>
      <p:sp>
        <p:nvSpPr>
          <p:cNvPr id="3" name="Text 1"/>
          <p:cNvSpPr/>
          <p:nvPr/>
        </p:nvSpPr>
        <p:spPr>
          <a:xfrm>
            <a:off x="640080" y="941832"/>
            <a:ext cx="9994392" cy="310896"/>
          </a:xfrm>
          <a:prstGeom prst="rect">
            <a:avLst/>
          </a:prstGeom>
          <a:noFill/>
          <a:ln/>
        </p:spPr>
        <p:txBody>
          <a:bodyPr wrap="square" rtlCol="0" anchor="ctr"/>
          <a:lstStyle/>
          <a:p>
            <a:pPr marL="0" indent="0">
              <a:buNone/>
            </a:pPr>
            <a:r>
              <a:rPr lang="en-US" sz="1400" dirty="0">
                <a:solidFill>
                  <a:srgbClr val="4A4F57"/>
                </a:solidFill>
                <a:latin typeface="Calibri" pitchFamily="34" charset="0"/>
                <a:ea typeface="Calibri" pitchFamily="34" charset="-122"/>
                <a:cs typeface="Calibri" pitchFamily="34" charset="-120"/>
              </a:rPr>
              <a:t>Test PR-AUC. Random guessing scores 0.0013.</a:t>
            </a:r>
            <a:endParaRPr lang="en-US" sz="1400" dirty="0"/>
          </a:p>
        </p:txBody>
      </p:sp>
      <p:sp>
        <p:nvSpPr>
          <p:cNvPr id="4" name="Text 2"/>
          <p:cNvSpPr/>
          <p:nvPr/>
        </p:nvSpPr>
        <p:spPr>
          <a:xfrm>
            <a:off x="10725912" y="384048"/>
            <a:ext cx="822960" cy="457200"/>
          </a:xfrm>
          <a:prstGeom prst="rect">
            <a:avLst/>
          </a:prstGeom>
          <a:noFill/>
          <a:ln/>
        </p:spPr>
        <p:txBody>
          <a:bodyPr wrap="square" rtlCol="0" anchor="ctr"/>
          <a:lstStyle/>
          <a:p>
            <a:pPr marL="0" indent="0" algn="r">
              <a:buNone/>
            </a:pPr>
            <a:r>
              <a:rPr lang="en-US" sz="2600" b="1" dirty="0">
                <a:solidFill>
                  <a:srgbClr val="D5DEEF"/>
                </a:solidFill>
                <a:latin typeface="Cambria" pitchFamily="34" charset="0"/>
                <a:ea typeface="Cambria" pitchFamily="34" charset="-122"/>
                <a:cs typeface="Cambria" pitchFamily="34" charset="-120"/>
              </a:rPr>
              <a:t>07</a:t>
            </a:r>
            <a:endParaRPr lang="en-US" sz="2600" dirty="0"/>
          </a:p>
        </p:txBody>
      </p:sp>
      <p:sp>
        <p:nvSpPr>
          <p:cNvPr id="5" name="Text 3"/>
          <p:cNvSpPr/>
          <p:nvPr/>
        </p:nvSpPr>
        <p:spPr>
          <a:xfrm>
            <a:off x="640080" y="6437376"/>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FinTech Titans  |  Catching Fraud in Mobile Money</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0972800" cy="914400"/>
        </p:xfrm>
        <a:graphic>
          <a:graphicData uri="http://schemas.openxmlformats.org/drawingml/2006/table">
            <a:tbl>
              <a:tblPr/>
              <a:tblGrid>
                <a:gridCol w="4114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7548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0033A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 Basic</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0033A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B. With balances</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0033A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 Balance errors</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0033A1"/>
                    </a:solidFill>
                  </a:tcPr>
                </a:tc>
                <a:extLst>
                  <a:ext uri="{0D108BD9-81ED-4DB2-BD59-A6C34878D82A}">
                    <a16:rowId xmlns:a16="http://schemas.microsoft.com/office/drawing/2014/main" val="10000"/>
                  </a:ext>
                </a:extLst>
              </a:tr>
              <a:tr h="475488">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Logistic Regression (baseline)</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0.077</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0.103</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0.476</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extLst>
                  <a:ext uri="{0D108BD9-81ED-4DB2-BD59-A6C34878D82A}">
                    <a16:rowId xmlns:a16="http://schemas.microsoft.com/office/drawing/2014/main" val="10001"/>
                  </a:ext>
                </a:extLst>
              </a:tr>
              <a:tr h="475488">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Decision Tree</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0.241</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0.198</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0.272</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extLst>
                  <a:ext uri="{0D108BD9-81ED-4DB2-BD59-A6C34878D82A}">
                    <a16:rowId xmlns:a16="http://schemas.microsoft.com/office/drawing/2014/main" val="10002"/>
                  </a:ext>
                </a:extLst>
              </a:tr>
              <a:tr h="475488">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0.193</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0.708</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tc>
                  <a:txBody>
                    <a:bodyPr/>
                    <a:lstStyle/>
                    <a:p>
                      <a:pPr marL="0" indent="0" algn="ctr">
                        <a:buNone/>
                      </a:pPr>
                      <a:r>
                        <a:rPr lang="en-US" sz="1300" dirty="0">
                          <a:solidFill>
                            <a:srgbClr val="1A1A1A"/>
                          </a:solidFill>
                          <a:latin typeface="Calibri" pitchFamily="34" charset="0"/>
                          <a:ea typeface="Calibri" pitchFamily="34" charset="-122"/>
                          <a:cs typeface="Calibri" pitchFamily="34" charset="-120"/>
                        </a:rPr>
                        <a:t>0.846</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extLst>
                  <a:ext uri="{0D108BD9-81ED-4DB2-BD59-A6C34878D82A}">
                    <a16:rowId xmlns:a16="http://schemas.microsoft.com/office/drawing/2014/main" val="10003"/>
                  </a:ext>
                </a:extLst>
              </a:tr>
              <a:tr h="475488">
                <a:tc>
                  <a:txBody>
                    <a:bodyPr/>
                    <a:lstStyle/>
                    <a:p>
                      <a:pPr marL="0" indent="0" algn="ctr">
                        <a:buNone/>
                      </a:pPr>
                      <a:r>
                        <a:rPr lang="en-US" sz="1300" b="1" dirty="0">
                          <a:solidFill>
                            <a:srgbClr val="1E7B4D"/>
                          </a:solidFill>
                          <a:latin typeface="Calibri" pitchFamily="34" charset="0"/>
                          <a:ea typeface="Calibri" pitchFamily="34" charset="-122"/>
                          <a:cs typeface="Calibri" pitchFamily="34" charset="-120"/>
                        </a:rPr>
                        <a:t>XGBoost</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tc>
                  <a:txBody>
                    <a:bodyPr/>
                    <a:lstStyle/>
                    <a:p>
                      <a:pPr marL="0" indent="0" algn="ctr">
                        <a:buNone/>
                      </a:pPr>
                      <a:r>
                        <a:rPr lang="en-US" sz="1300" b="1" dirty="0">
                          <a:solidFill>
                            <a:srgbClr val="1E7B4D"/>
                          </a:solidFill>
                          <a:latin typeface="Calibri" pitchFamily="34" charset="0"/>
                          <a:ea typeface="Calibri" pitchFamily="34" charset="-122"/>
                          <a:cs typeface="Calibri" pitchFamily="34" charset="-120"/>
                        </a:rPr>
                        <a:t>0.278</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tc>
                  <a:txBody>
                    <a:bodyPr/>
                    <a:lstStyle/>
                    <a:p>
                      <a:pPr marL="0" indent="0" algn="ctr">
                        <a:buNone/>
                      </a:pPr>
                      <a:r>
                        <a:rPr lang="en-US" sz="1300" b="1" dirty="0">
                          <a:solidFill>
                            <a:srgbClr val="1E7B4D"/>
                          </a:solidFill>
                          <a:latin typeface="Calibri" pitchFamily="34" charset="0"/>
                          <a:ea typeface="Calibri" pitchFamily="34" charset="-122"/>
                          <a:cs typeface="Calibri" pitchFamily="34" charset="-120"/>
                        </a:rPr>
                        <a:t>0.832</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tc>
                  <a:txBody>
                    <a:bodyPr/>
                    <a:lstStyle/>
                    <a:p>
                      <a:pPr marL="0" indent="0" algn="ctr">
                        <a:buNone/>
                      </a:pPr>
                      <a:r>
                        <a:rPr lang="en-US" sz="1300" dirty="0">
                          <a:solidFill>
                            <a:srgbClr val="AAAAAA"/>
                          </a:solidFill>
                          <a:latin typeface="Calibri" pitchFamily="34" charset="0"/>
                          <a:ea typeface="Calibri" pitchFamily="34" charset="-122"/>
                          <a:cs typeface="Calibri" pitchFamily="34" charset="-120"/>
                        </a:rPr>
                        <a:t>0.989</a:t>
                      </a:r>
                      <a:endParaRPr lang="en-US" sz="1300" dirty="0">
                        <a:latin typeface="Calibri" charset="0"/>
                        <a:ea typeface="Calibri" charset="0"/>
                        <a:cs typeface="Calibri" charset="0"/>
                      </a:endParaRPr>
                    </a:p>
                  </a:txBody>
                  <a:tcPr anchor="ctr">
                    <a:lnL w="12700" cap="flat" cmpd="sng" algn="ctr">
                      <a:solidFill>
                        <a:srgbClr val="D5DEEF"/>
                      </a:solidFill>
                      <a:prstDash val="solid"/>
                      <a:round/>
                      <a:headEnd type="none" w="med" len="med"/>
                      <a:tailEnd type="none" w="med" len="med"/>
                    </a:lnL>
                    <a:lnR w="12700" cap="flat" cmpd="sng" algn="ctr">
                      <a:solidFill>
                        <a:srgbClr val="D5DEEF"/>
                      </a:solidFill>
                      <a:prstDash val="solid"/>
                      <a:round/>
                      <a:headEnd type="none" w="med" len="med"/>
                      <a:tailEnd type="none" w="med" len="med"/>
                    </a:lnR>
                    <a:lnT w="12700" cap="flat" cmpd="sng" algn="ctr">
                      <a:solidFill>
                        <a:srgbClr val="D5DEEF"/>
                      </a:solidFill>
                      <a:prstDash val="solid"/>
                      <a:round/>
                      <a:headEnd type="none" w="med" len="med"/>
                      <a:tailEnd type="none" w="med" len="med"/>
                    </a:lnT>
                    <a:lnB w="12700" cap="flat" cmpd="sng" algn="ctr">
                      <a:solidFill>
                        <a:srgbClr val="D5DEEF"/>
                      </a:solidFill>
                      <a:prstDash val="solid"/>
                      <a:round/>
                      <a:headEnd type="none" w="med" len="med"/>
                      <a:tailEnd type="none" w="med" len="med"/>
                    </a:lnB>
                    <a:solidFill>
                      <a:srgbClr val="F2F5FB"/>
                    </a:solidFill>
                  </a:tcPr>
                </a:tc>
                <a:extLst>
                  <a:ext uri="{0D108BD9-81ED-4DB2-BD59-A6C34878D82A}">
                    <a16:rowId xmlns:a16="http://schemas.microsoft.com/office/drawing/2014/main" val="10004"/>
                  </a:ext>
                </a:extLst>
              </a:tr>
            </a:tbl>
          </a:graphicData>
        </a:graphic>
      </p:graphicFrame>
      <p:sp>
        <p:nvSpPr>
          <p:cNvPr id="7" name="Shape 4"/>
          <p:cNvSpPr/>
          <p:nvPr/>
        </p:nvSpPr>
        <p:spPr>
          <a:xfrm>
            <a:off x="548640" y="4572000"/>
            <a:ext cx="3474720" cy="1463040"/>
          </a:xfrm>
          <a:prstGeom prst="roundRect">
            <a:avLst>
              <a:gd name="adj" fmla="val 3125"/>
            </a:avLst>
          </a:prstGeom>
          <a:solidFill>
            <a:srgbClr val="F2F5FB"/>
          </a:solidFill>
          <a:ln w="12700">
            <a:solidFill>
              <a:srgbClr val="D5DEEF"/>
            </a:solidFill>
            <a:prstDash val="solid"/>
          </a:ln>
        </p:spPr>
        <p:txBody>
          <a:bodyPr/>
          <a:lstStyle/>
          <a:p>
            <a:endParaRPr lang="en-US"/>
          </a:p>
        </p:txBody>
      </p:sp>
      <p:sp>
        <p:nvSpPr>
          <p:cNvPr id="6" name="Text 5"/>
          <p:cNvSpPr/>
          <p:nvPr/>
        </p:nvSpPr>
        <p:spPr>
          <a:xfrm>
            <a:off x="749808" y="4709160"/>
            <a:ext cx="3072384" cy="274320"/>
          </a:xfrm>
          <a:prstGeom prst="rect">
            <a:avLst/>
          </a:prstGeom>
          <a:noFill/>
          <a:ln/>
        </p:spPr>
        <p:txBody>
          <a:bodyPr wrap="square" rtlCol="0" anchor="ctr"/>
          <a:lstStyle/>
          <a:p>
            <a:pPr marL="0" indent="0">
              <a:buNone/>
            </a:pPr>
            <a:r>
              <a:rPr lang="en-US" sz="1300" b="1" dirty="0">
                <a:solidFill>
                  <a:srgbClr val="0033A1"/>
                </a:solidFill>
                <a:latin typeface="Calibri" pitchFamily="34" charset="0"/>
                <a:ea typeface="Calibri" pitchFamily="34" charset="-122"/>
                <a:cs typeface="Calibri" pitchFamily="34" charset="-120"/>
              </a:rPr>
              <a:t>Baseline beaten</a:t>
            </a:r>
            <a:endParaRPr lang="en-US" sz="1300" dirty="0"/>
          </a:p>
        </p:txBody>
      </p:sp>
      <p:sp>
        <p:nvSpPr>
          <p:cNvPr id="9" name="Text 6"/>
          <p:cNvSpPr/>
          <p:nvPr/>
        </p:nvSpPr>
        <p:spPr>
          <a:xfrm>
            <a:off x="749808" y="5001768"/>
            <a:ext cx="3072384" cy="914400"/>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XGBoost reaches 0.832 against the baseline’s 0.103, confirming fraud here is a non linear pattern.</a:t>
            </a:r>
            <a:endParaRPr lang="en-US" sz="1150" dirty="0"/>
          </a:p>
        </p:txBody>
      </p:sp>
      <p:sp>
        <p:nvSpPr>
          <p:cNvPr id="10" name="Shape 7"/>
          <p:cNvSpPr/>
          <p:nvPr/>
        </p:nvSpPr>
        <p:spPr>
          <a:xfrm>
            <a:off x="4297680" y="4572000"/>
            <a:ext cx="3474720" cy="1463040"/>
          </a:xfrm>
          <a:prstGeom prst="roundRect">
            <a:avLst>
              <a:gd name="adj" fmla="val 3125"/>
            </a:avLst>
          </a:prstGeom>
          <a:solidFill>
            <a:srgbClr val="F2F5FB"/>
          </a:solidFill>
          <a:ln w="12700">
            <a:solidFill>
              <a:srgbClr val="D5DEEF"/>
            </a:solidFill>
            <a:prstDash val="solid"/>
          </a:ln>
        </p:spPr>
        <p:txBody>
          <a:bodyPr/>
          <a:lstStyle/>
          <a:p>
            <a:endParaRPr lang="en-US"/>
          </a:p>
        </p:txBody>
      </p:sp>
      <p:sp>
        <p:nvSpPr>
          <p:cNvPr id="11" name="Text 8"/>
          <p:cNvSpPr/>
          <p:nvPr/>
        </p:nvSpPr>
        <p:spPr>
          <a:xfrm>
            <a:off x="4498848" y="4709160"/>
            <a:ext cx="3072384" cy="274320"/>
          </a:xfrm>
          <a:prstGeom prst="rect">
            <a:avLst/>
          </a:prstGeom>
          <a:noFill/>
          <a:ln/>
        </p:spPr>
        <p:txBody>
          <a:bodyPr wrap="square" rtlCol="0" anchor="ctr"/>
          <a:lstStyle/>
          <a:p>
            <a:pPr marL="0" indent="0">
              <a:buNone/>
            </a:pPr>
            <a:r>
              <a:rPr lang="en-US" sz="1300" b="1" dirty="0">
                <a:solidFill>
                  <a:srgbClr val="1E7B4D"/>
                </a:solidFill>
                <a:latin typeface="Calibri" pitchFamily="34" charset="0"/>
                <a:ea typeface="Calibri" pitchFamily="34" charset="-122"/>
                <a:cs typeface="Calibri" pitchFamily="34" charset="-120"/>
              </a:rPr>
              <a:t>Splits agree</a:t>
            </a:r>
            <a:endParaRPr lang="en-US" sz="1300" dirty="0"/>
          </a:p>
        </p:txBody>
      </p:sp>
      <p:sp>
        <p:nvSpPr>
          <p:cNvPr id="12" name="Text 9"/>
          <p:cNvSpPr/>
          <p:nvPr/>
        </p:nvSpPr>
        <p:spPr>
          <a:xfrm>
            <a:off x="4498848" y="5001768"/>
            <a:ext cx="3072384" cy="914400"/>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Time based split gives XGBoost 0.852 against 0.832 random, a gap of only 0.02.</a:t>
            </a:r>
            <a:endParaRPr lang="en-US" sz="1150" dirty="0"/>
          </a:p>
        </p:txBody>
      </p:sp>
      <p:sp>
        <p:nvSpPr>
          <p:cNvPr id="13" name="Shape 10"/>
          <p:cNvSpPr/>
          <p:nvPr/>
        </p:nvSpPr>
        <p:spPr>
          <a:xfrm>
            <a:off x="8046720" y="4572000"/>
            <a:ext cx="3474720" cy="1463040"/>
          </a:xfrm>
          <a:prstGeom prst="roundRect">
            <a:avLst>
              <a:gd name="adj" fmla="val 3125"/>
            </a:avLst>
          </a:prstGeom>
          <a:solidFill>
            <a:srgbClr val="F2F5FB"/>
          </a:solidFill>
          <a:ln w="12700">
            <a:solidFill>
              <a:srgbClr val="D5DEEF"/>
            </a:solidFill>
            <a:prstDash val="solid"/>
          </a:ln>
        </p:spPr>
        <p:txBody>
          <a:bodyPr/>
          <a:lstStyle/>
          <a:p>
            <a:endParaRPr lang="en-US"/>
          </a:p>
        </p:txBody>
      </p:sp>
      <p:sp>
        <p:nvSpPr>
          <p:cNvPr id="14" name="Text 11"/>
          <p:cNvSpPr/>
          <p:nvPr/>
        </p:nvSpPr>
        <p:spPr>
          <a:xfrm>
            <a:off x="8247888" y="4709160"/>
            <a:ext cx="3072384" cy="274320"/>
          </a:xfrm>
          <a:prstGeom prst="rect">
            <a:avLst/>
          </a:prstGeom>
          <a:noFill/>
          <a:ln/>
        </p:spPr>
        <p:txBody>
          <a:bodyPr wrap="square" rtlCol="0" anchor="ctr"/>
          <a:lstStyle/>
          <a:p>
            <a:pPr marL="0" indent="0">
              <a:buNone/>
            </a:pPr>
            <a:r>
              <a:rPr lang="en-US" sz="1300" b="1" dirty="0">
                <a:solidFill>
                  <a:srgbClr val="D0021B"/>
                </a:solidFill>
                <a:latin typeface="Calibri" pitchFamily="34" charset="0"/>
                <a:ea typeface="Calibri" pitchFamily="34" charset="-122"/>
                <a:cs typeface="Calibri" pitchFamily="34" charset="-120"/>
              </a:rPr>
              <a:t>Column C is the leak</a:t>
            </a:r>
            <a:endParaRPr lang="en-US" sz="1300" dirty="0"/>
          </a:p>
        </p:txBody>
      </p:sp>
      <p:sp>
        <p:nvSpPr>
          <p:cNvPr id="15" name="Text 12"/>
          <p:cNvSpPr/>
          <p:nvPr/>
        </p:nvSpPr>
        <p:spPr>
          <a:xfrm>
            <a:off x="8247888" y="5001768"/>
            <a:ext cx="3072384" cy="914400"/>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0.989 measures the simulator artifact, not skill. We report column B.</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994392" cy="548640"/>
          </a:xfrm>
          <a:prstGeom prst="rect">
            <a:avLst/>
          </a:prstGeom>
          <a:noFill/>
          <a:ln/>
        </p:spPr>
        <p:txBody>
          <a:bodyPr wrap="square" rtlCol="0" anchor="ctr"/>
          <a:lstStyle/>
          <a:p>
            <a:pPr marL="0" indent="0">
              <a:buNone/>
            </a:pPr>
            <a:r>
              <a:rPr lang="en-US" sz="3000" b="1" dirty="0">
                <a:solidFill>
                  <a:srgbClr val="0033A1"/>
                </a:solidFill>
                <a:latin typeface="Cambria" pitchFamily="34" charset="0"/>
                <a:ea typeface="Cambria" pitchFamily="34" charset="-122"/>
                <a:cs typeface="Cambria" pitchFamily="34" charset="-120"/>
              </a:rPr>
              <a:t>What Actually Improved Performance</a:t>
            </a:r>
            <a:endParaRPr lang="en-US" sz="3000" dirty="0"/>
          </a:p>
        </p:txBody>
      </p:sp>
      <p:sp>
        <p:nvSpPr>
          <p:cNvPr id="3" name="Text 1"/>
          <p:cNvSpPr/>
          <p:nvPr/>
        </p:nvSpPr>
        <p:spPr>
          <a:xfrm>
            <a:off x="640080" y="941832"/>
            <a:ext cx="9994392" cy="310896"/>
          </a:xfrm>
          <a:prstGeom prst="rect">
            <a:avLst/>
          </a:prstGeom>
          <a:noFill/>
          <a:ln/>
        </p:spPr>
        <p:txBody>
          <a:bodyPr wrap="square" rtlCol="0" anchor="ctr"/>
          <a:lstStyle/>
          <a:p>
            <a:pPr marL="0" indent="0">
              <a:buNone/>
            </a:pPr>
            <a:r>
              <a:rPr lang="en-US" sz="1400" dirty="0">
                <a:solidFill>
                  <a:srgbClr val="4A4F57"/>
                </a:solidFill>
                <a:latin typeface="Calibri" pitchFamily="34" charset="0"/>
                <a:ea typeface="Calibri" pitchFamily="34" charset="-122"/>
                <a:cs typeface="Calibri" pitchFamily="34" charset="-120"/>
              </a:rPr>
              <a:t>Three levers, measured separately. They are not equal.</a:t>
            </a:r>
            <a:endParaRPr lang="en-US" sz="1400" dirty="0"/>
          </a:p>
        </p:txBody>
      </p:sp>
      <p:sp>
        <p:nvSpPr>
          <p:cNvPr id="4" name="Text 2"/>
          <p:cNvSpPr/>
          <p:nvPr/>
        </p:nvSpPr>
        <p:spPr>
          <a:xfrm>
            <a:off x="10725912" y="384048"/>
            <a:ext cx="822960" cy="457200"/>
          </a:xfrm>
          <a:prstGeom prst="rect">
            <a:avLst/>
          </a:prstGeom>
          <a:noFill/>
          <a:ln/>
        </p:spPr>
        <p:txBody>
          <a:bodyPr wrap="square" rtlCol="0" anchor="ctr"/>
          <a:lstStyle/>
          <a:p>
            <a:pPr marL="0" indent="0" algn="r">
              <a:buNone/>
            </a:pPr>
            <a:r>
              <a:rPr lang="en-US" sz="2600" b="1" dirty="0">
                <a:solidFill>
                  <a:srgbClr val="D5DEEF"/>
                </a:solidFill>
                <a:latin typeface="Cambria" pitchFamily="34" charset="0"/>
                <a:ea typeface="Cambria" pitchFamily="34" charset="-122"/>
                <a:cs typeface="Cambria" pitchFamily="34" charset="-120"/>
              </a:rPr>
              <a:t>08</a:t>
            </a:r>
            <a:endParaRPr lang="en-US" sz="2600" dirty="0"/>
          </a:p>
        </p:txBody>
      </p:sp>
      <p:sp>
        <p:nvSpPr>
          <p:cNvPr id="5" name="Text 3"/>
          <p:cNvSpPr/>
          <p:nvPr/>
        </p:nvSpPr>
        <p:spPr>
          <a:xfrm>
            <a:off x="640080" y="6437376"/>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FinTech Titans  |  Catching Fraud in Mobile Money</a:t>
            </a:r>
            <a:endParaRPr lang="en-US" sz="900" dirty="0"/>
          </a:p>
        </p:txBody>
      </p:sp>
      <p:sp>
        <p:nvSpPr>
          <p:cNvPr id="6" name="Shape 4"/>
          <p:cNvSpPr/>
          <p:nvPr/>
        </p:nvSpPr>
        <p:spPr>
          <a:xfrm>
            <a:off x="548640" y="1536192"/>
            <a:ext cx="10972800" cy="1216152"/>
          </a:xfrm>
          <a:prstGeom prst="roundRect">
            <a:avLst>
              <a:gd name="adj" fmla="val 3759"/>
            </a:avLst>
          </a:prstGeom>
          <a:solidFill>
            <a:srgbClr val="F2F5FB"/>
          </a:solidFill>
          <a:ln w="12700">
            <a:solidFill>
              <a:srgbClr val="D5DEEF"/>
            </a:solidFill>
            <a:prstDash val="solid"/>
          </a:ln>
        </p:spPr>
        <p:txBody>
          <a:bodyPr/>
          <a:lstStyle/>
          <a:p>
            <a:endParaRPr lang="en-US"/>
          </a:p>
        </p:txBody>
      </p:sp>
      <p:sp>
        <p:nvSpPr>
          <p:cNvPr id="7" name="Text 5"/>
          <p:cNvSpPr/>
          <p:nvPr/>
        </p:nvSpPr>
        <p:spPr>
          <a:xfrm>
            <a:off x="731520" y="1837944"/>
            <a:ext cx="548640" cy="548640"/>
          </a:xfrm>
          <a:prstGeom prst="rect">
            <a:avLst/>
          </a:prstGeom>
          <a:noFill/>
          <a:ln/>
        </p:spPr>
        <p:txBody>
          <a:bodyPr wrap="square" rtlCol="0" anchor="ctr"/>
          <a:lstStyle/>
          <a:p>
            <a:pPr marL="0" indent="0" algn="ctr">
              <a:buNone/>
            </a:pPr>
            <a:r>
              <a:rPr lang="en-US" sz="3000" b="1" dirty="0">
                <a:solidFill>
                  <a:srgbClr val="1E7B4D"/>
                </a:solidFill>
                <a:latin typeface="Cambria" pitchFamily="34" charset="0"/>
                <a:ea typeface="Cambria" pitchFamily="34" charset="-122"/>
                <a:cs typeface="Cambria" pitchFamily="34" charset="-120"/>
              </a:rPr>
              <a:t>1</a:t>
            </a:r>
            <a:endParaRPr lang="en-US" sz="3000" dirty="0"/>
          </a:p>
        </p:txBody>
      </p:sp>
      <p:sp>
        <p:nvSpPr>
          <p:cNvPr id="8" name="Text 6"/>
          <p:cNvSpPr/>
          <p:nvPr/>
        </p:nvSpPr>
        <p:spPr>
          <a:xfrm>
            <a:off x="1371600" y="1719072"/>
            <a:ext cx="3108960" cy="320040"/>
          </a:xfrm>
          <a:prstGeom prst="rect">
            <a:avLst/>
          </a:prstGeom>
          <a:noFill/>
          <a:ln/>
        </p:spPr>
        <p:txBody>
          <a:bodyPr wrap="square"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Features</a:t>
            </a:r>
            <a:endParaRPr lang="en-US" sz="1700" dirty="0"/>
          </a:p>
        </p:txBody>
      </p:sp>
      <p:sp>
        <p:nvSpPr>
          <p:cNvPr id="9" name="Text 7"/>
          <p:cNvSpPr/>
          <p:nvPr/>
        </p:nvSpPr>
        <p:spPr>
          <a:xfrm>
            <a:off x="1371600" y="2084832"/>
            <a:ext cx="6400800" cy="566928"/>
          </a:xfrm>
          <a:prstGeom prst="rect">
            <a:avLst/>
          </a:prstGeom>
          <a:noFill/>
          <a:ln/>
        </p:spPr>
        <p:txBody>
          <a:bodyPr wrap="square" rtlCol="0" anchor="ctr"/>
          <a:lstStyle/>
          <a:p>
            <a:pPr marL="0" indent="0">
              <a:buNone/>
            </a:pPr>
            <a:r>
              <a:rPr lang="en-US" sz="1200" dirty="0">
                <a:solidFill>
                  <a:srgbClr val="4A4F57"/>
                </a:solidFill>
                <a:latin typeface="Calibri" pitchFamily="34" charset="0"/>
                <a:ea typeface="Calibri" pitchFamily="34" charset="-122"/>
                <a:cs typeface="Calibri" pitchFamily="34" charset="-120"/>
              </a:rPr>
              <a:t>Adding the two pre transaction balance columns. By far the largest single improvement in the project.</a:t>
            </a:r>
            <a:endParaRPr lang="en-US" sz="1200" dirty="0"/>
          </a:p>
        </p:txBody>
      </p:sp>
      <p:sp>
        <p:nvSpPr>
          <p:cNvPr id="10" name="Text 8"/>
          <p:cNvSpPr/>
          <p:nvPr/>
        </p:nvSpPr>
        <p:spPr>
          <a:xfrm>
            <a:off x="7955280" y="1810512"/>
            <a:ext cx="3383280" cy="457200"/>
          </a:xfrm>
          <a:prstGeom prst="rect">
            <a:avLst/>
          </a:prstGeom>
          <a:noFill/>
          <a:ln/>
        </p:spPr>
        <p:txBody>
          <a:bodyPr wrap="square" rtlCol="0" anchor="ctr"/>
          <a:lstStyle/>
          <a:p>
            <a:pPr marL="0" indent="0" algn="r">
              <a:buNone/>
            </a:pPr>
            <a:r>
              <a:rPr lang="en-US" sz="2600" b="1" dirty="0">
                <a:solidFill>
                  <a:srgbClr val="1E7B4D"/>
                </a:solidFill>
                <a:latin typeface="Cambria" pitchFamily="34" charset="0"/>
                <a:ea typeface="Cambria" pitchFamily="34" charset="-122"/>
                <a:cs typeface="Cambria" pitchFamily="34" charset="-120"/>
              </a:rPr>
              <a:t>+0.554</a:t>
            </a:r>
            <a:endParaRPr lang="en-US" sz="2600" dirty="0"/>
          </a:p>
        </p:txBody>
      </p:sp>
      <p:sp>
        <p:nvSpPr>
          <p:cNvPr id="11" name="Text 9"/>
          <p:cNvSpPr/>
          <p:nvPr/>
        </p:nvSpPr>
        <p:spPr>
          <a:xfrm>
            <a:off x="7955280" y="2267712"/>
            <a:ext cx="3383280" cy="274320"/>
          </a:xfrm>
          <a:prstGeom prst="rect">
            <a:avLst/>
          </a:prstGeom>
          <a:noFill/>
          <a:ln/>
        </p:spPr>
        <p:txBody>
          <a:bodyPr wrap="square" rtlCol="0" anchor="ctr"/>
          <a:lstStyle/>
          <a:p>
            <a:pPr marL="0" indent="0" algn="r">
              <a:buNone/>
            </a:pPr>
            <a:r>
              <a:rPr lang="en-US" sz="1100" dirty="0">
                <a:solidFill>
                  <a:srgbClr val="4A4F57"/>
                </a:solidFill>
                <a:latin typeface="Calibri" pitchFamily="34" charset="0"/>
                <a:ea typeface="Calibri" pitchFamily="34" charset="-122"/>
                <a:cs typeface="Calibri" pitchFamily="34" charset="-120"/>
              </a:rPr>
              <a:t>PR-AUC gain</a:t>
            </a:r>
            <a:endParaRPr lang="en-US" sz="1100" dirty="0"/>
          </a:p>
        </p:txBody>
      </p:sp>
      <p:sp>
        <p:nvSpPr>
          <p:cNvPr id="12" name="Shape 10"/>
          <p:cNvSpPr/>
          <p:nvPr/>
        </p:nvSpPr>
        <p:spPr>
          <a:xfrm>
            <a:off x="548640" y="2907792"/>
            <a:ext cx="10972800" cy="1216152"/>
          </a:xfrm>
          <a:prstGeom prst="roundRect">
            <a:avLst>
              <a:gd name="adj" fmla="val 3759"/>
            </a:avLst>
          </a:prstGeom>
          <a:solidFill>
            <a:srgbClr val="F2F5FB"/>
          </a:solidFill>
          <a:ln w="12700">
            <a:solidFill>
              <a:srgbClr val="D5DEEF"/>
            </a:solidFill>
            <a:prstDash val="solid"/>
          </a:ln>
        </p:spPr>
        <p:txBody>
          <a:bodyPr/>
          <a:lstStyle/>
          <a:p>
            <a:endParaRPr lang="en-US"/>
          </a:p>
        </p:txBody>
      </p:sp>
      <p:sp>
        <p:nvSpPr>
          <p:cNvPr id="13" name="Text 11"/>
          <p:cNvSpPr/>
          <p:nvPr/>
        </p:nvSpPr>
        <p:spPr>
          <a:xfrm>
            <a:off x="731520" y="3209544"/>
            <a:ext cx="548640" cy="548640"/>
          </a:xfrm>
          <a:prstGeom prst="rect">
            <a:avLst/>
          </a:prstGeom>
          <a:noFill/>
          <a:ln/>
        </p:spPr>
        <p:txBody>
          <a:bodyPr wrap="square" rtlCol="0" anchor="ctr"/>
          <a:lstStyle/>
          <a:p>
            <a:pPr marL="0" indent="0" algn="ctr">
              <a:buNone/>
            </a:pPr>
            <a:r>
              <a:rPr lang="en-US" sz="3000" b="1" dirty="0">
                <a:solidFill>
                  <a:srgbClr val="0033A1"/>
                </a:solidFill>
                <a:latin typeface="Cambria" pitchFamily="34" charset="0"/>
                <a:ea typeface="Cambria" pitchFamily="34" charset="-122"/>
                <a:cs typeface="Cambria" pitchFamily="34" charset="-120"/>
              </a:rPr>
              <a:t>2</a:t>
            </a:r>
            <a:endParaRPr lang="en-US" sz="3000" dirty="0"/>
          </a:p>
        </p:txBody>
      </p:sp>
      <p:sp>
        <p:nvSpPr>
          <p:cNvPr id="14" name="Text 12"/>
          <p:cNvSpPr/>
          <p:nvPr/>
        </p:nvSpPr>
        <p:spPr>
          <a:xfrm>
            <a:off x="1371600" y="3090672"/>
            <a:ext cx="3108960" cy="320040"/>
          </a:xfrm>
          <a:prstGeom prst="rect">
            <a:avLst/>
          </a:prstGeom>
          <a:noFill/>
          <a:ln/>
        </p:spPr>
        <p:txBody>
          <a:bodyPr wrap="square"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Decision threshold</a:t>
            </a:r>
            <a:endParaRPr lang="en-US" sz="1700" dirty="0"/>
          </a:p>
        </p:txBody>
      </p:sp>
      <p:sp>
        <p:nvSpPr>
          <p:cNvPr id="15" name="Text 13"/>
          <p:cNvSpPr/>
          <p:nvPr/>
        </p:nvSpPr>
        <p:spPr>
          <a:xfrm>
            <a:off x="1371600" y="3456432"/>
            <a:ext cx="6400800" cy="566928"/>
          </a:xfrm>
          <a:prstGeom prst="rect">
            <a:avLst/>
          </a:prstGeom>
          <a:noFill/>
          <a:ln/>
        </p:spPr>
        <p:txBody>
          <a:bodyPr wrap="square" rtlCol="0" anchor="ctr"/>
          <a:lstStyle/>
          <a:p>
            <a:pPr marL="0" indent="0">
              <a:buNone/>
            </a:pPr>
            <a:r>
              <a:rPr lang="en-US" sz="1200" dirty="0">
                <a:solidFill>
                  <a:srgbClr val="4A4F57"/>
                </a:solidFill>
                <a:latin typeface="Calibri" pitchFamily="34" charset="0"/>
                <a:ea typeface="Calibri" pitchFamily="34" charset="-122"/>
                <a:cs typeface="Calibri" pitchFamily="34" charset="-120"/>
              </a:rPr>
              <a:t>The default of 0.5 has no business meaning. Choosing the cut off on validation nearly halved false alarms.</a:t>
            </a:r>
            <a:endParaRPr lang="en-US" sz="1200" dirty="0"/>
          </a:p>
        </p:txBody>
      </p:sp>
      <p:sp>
        <p:nvSpPr>
          <p:cNvPr id="16" name="Text 14"/>
          <p:cNvSpPr/>
          <p:nvPr/>
        </p:nvSpPr>
        <p:spPr>
          <a:xfrm>
            <a:off x="7955280" y="3182112"/>
            <a:ext cx="3383280" cy="457200"/>
          </a:xfrm>
          <a:prstGeom prst="rect">
            <a:avLst/>
          </a:prstGeom>
          <a:noFill/>
          <a:ln/>
        </p:spPr>
        <p:txBody>
          <a:bodyPr wrap="square" rtlCol="0" anchor="ctr"/>
          <a:lstStyle/>
          <a:p>
            <a:pPr marL="0" indent="0" algn="r">
              <a:buNone/>
            </a:pPr>
            <a:r>
              <a:rPr lang="en-US" sz="2600" b="1" dirty="0">
                <a:solidFill>
                  <a:srgbClr val="0033A1"/>
                </a:solidFill>
                <a:latin typeface="Cambria" pitchFamily="34" charset="0"/>
                <a:ea typeface="Cambria" pitchFamily="34" charset="-122"/>
                <a:cs typeface="Cambria" pitchFamily="34" charset="-120"/>
              </a:rPr>
              <a:t>0.538 to 0.788</a:t>
            </a:r>
            <a:endParaRPr lang="en-US" sz="2600" dirty="0"/>
          </a:p>
        </p:txBody>
      </p:sp>
      <p:sp>
        <p:nvSpPr>
          <p:cNvPr id="17" name="Text 15"/>
          <p:cNvSpPr/>
          <p:nvPr/>
        </p:nvSpPr>
        <p:spPr>
          <a:xfrm>
            <a:off x="7955280" y="3639312"/>
            <a:ext cx="3383280" cy="274320"/>
          </a:xfrm>
          <a:prstGeom prst="rect">
            <a:avLst/>
          </a:prstGeom>
          <a:noFill/>
          <a:ln/>
        </p:spPr>
        <p:txBody>
          <a:bodyPr wrap="square" rtlCol="0" anchor="ctr"/>
          <a:lstStyle/>
          <a:p>
            <a:pPr marL="0" indent="0" algn="r">
              <a:buNone/>
            </a:pPr>
            <a:r>
              <a:rPr lang="en-US" sz="1100" dirty="0">
                <a:solidFill>
                  <a:srgbClr val="4A4F57"/>
                </a:solidFill>
                <a:latin typeface="Calibri" pitchFamily="34" charset="0"/>
                <a:ea typeface="Calibri" pitchFamily="34" charset="-122"/>
                <a:cs typeface="Calibri" pitchFamily="34" charset="-120"/>
              </a:rPr>
              <a:t>F1 score</a:t>
            </a:r>
            <a:endParaRPr lang="en-US" sz="1100" dirty="0"/>
          </a:p>
        </p:txBody>
      </p:sp>
      <p:sp>
        <p:nvSpPr>
          <p:cNvPr id="18" name="Shape 16"/>
          <p:cNvSpPr/>
          <p:nvPr/>
        </p:nvSpPr>
        <p:spPr>
          <a:xfrm>
            <a:off x="548640" y="4279392"/>
            <a:ext cx="10972800" cy="1216152"/>
          </a:xfrm>
          <a:prstGeom prst="roundRect">
            <a:avLst>
              <a:gd name="adj" fmla="val 3759"/>
            </a:avLst>
          </a:prstGeom>
          <a:solidFill>
            <a:srgbClr val="F2F5FB"/>
          </a:solidFill>
          <a:ln w="12700">
            <a:solidFill>
              <a:srgbClr val="D5DEEF"/>
            </a:solidFill>
            <a:prstDash val="solid"/>
          </a:ln>
        </p:spPr>
        <p:txBody>
          <a:bodyPr/>
          <a:lstStyle/>
          <a:p>
            <a:endParaRPr lang="en-US"/>
          </a:p>
        </p:txBody>
      </p:sp>
      <p:sp>
        <p:nvSpPr>
          <p:cNvPr id="19" name="Text 17"/>
          <p:cNvSpPr/>
          <p:nvPr/>
        </p:nvSpPr>
        <p:spPr>
          <a:xfrm>
            <a:off x="731520" y="4581144"/>
            <a:ext cx="548640" cy="548640"/>
          </a:xfrm>
          <a:prstGeom prst="rect">
            <a:avLst/>
          </a:prstGeom>
          <a:noFill/>
          <a:ln/>
        </p:spPr>
        <p:txBody>
          <a:bodyPr wrap="square" rtlCol="0" anchor="ctr"/>
          <a:lstStyle/>
          <a:p>
            <a:pPr marL="0" indent="0" algn="ctr">
              <a:buNone/>
            </a:pPr>
            <a:r>
              <a:rPr lang="en-US" sz="3000" b="1" dirty="0">
                <a:solidFill>
                  <a:srgbClr val="AAAAAA"/>
                </a:solidFill>
                <a:latin typeface="Cambria" pitchFamily="34" charset="0"/>
                <a:ea typeface="Cambria" pitchFamily="34" charset="-122"/>
                <a:cs typeface="Cambria" pitchFamily="34" charset="-120"/>
              </a:rPr>
              <a:t>3</a:t>
            </a:r>
            <a:endParaRPr lang="en-US" sz="3000" dirty="0"/>
          </a:p>
        </p:txBody>
      </p:sp>
      <p:sp>
        <p:nvSpPr>
          <p:cNvPr id="20" name="Text 18"/>
          <p:cNvSpPr/>
          <p:nvPr/>
        </p:nvSpPr>
        <p:spPr>
          <a:xfrm>
            <a:off x="1371600" y="4462272"/>
            <a:ext cx="3108960" cy="320040"/>
          </a:xfrm>
          <a:prstGeom prst="rect">
            <a:avLst/>
          </a:prstGeom>
          <a:noFill/>
          <a:ln/>
        </p:spPr>
        <p:txBody>
          <a:bodyPr wrap="square" rtlCol="0" anchor="ctr"/>
          <a:lstStyle/>
          <a:p>
            <a:pPr marL="0" indent="0">
              <a:buNone/>
            </a:pPr>
            <a:r>
              <a:rPr lang="en-US" sz="1700" b="1" dirty="0">
                <a:solidFill>
                  <a:srgbClr val="1A1A1A"/>
                </a:solidFill>
                <a:latin typeface="Calibri" pitchFamily="34" charset="0"/>
                <a:ea typeface="Calibri" pitchFamily="34" charset="-122"/>
                <a:cs typeface="Calibri" pitchFamily="34" charset="-120"/>
              </a:rPr>
              <a:t>Hyperparameters</a:t>
            </a:r>
            <a:endParaRPr lang="en-US" sz="1700" dirty="0"/>
          </a:p>
        </p:txBody>
      </p:sp>
      <p:sp>
        <p:nvSpPr>
          <p:cNvPr id="21" name="Text 19"/>
          <p:cNvSpPr/>
          <p:nvPr/>
        </p:nvSpPr>
        <p:spPr>
          <a:xfrm>
            <a:off x="1371600" y="4828032"/>
            <a:ext cx="6400800" cy="566928"/>
          </a:xfrm>
          <a:prstGeom prst="rect">
            <a:avLst/>
          </a:prstGeom>
          <a:noFill/>
          <a:ln/>
        </p:spPr>
        <p:txBody>
          <a:bodyPr wrap="square" rtlCol="0" anchor="ctr"/>
          <a:lstStyle/>
          <a:p>
            <a:pPr marL="0" indent="0">
              <a:buNone/>
            </a:pPr>
            <a:r>
              <a:rPr lang="en-US" sz="1200" dirty="0">
                <a:solidFill>
                  <a:srgbClr val="4A4F57"/>
                </a:solidFill>
                <a:latin typeface="Calibri" pitchFamily="34" charset="0"/>
                <a:ea typeface="Calibri" pitchFamily="34" charset="-122"/>
                <a:cs typeface="Calibri" pitchFamily="34" charset="-120"/>
              </a:rPr>
              <a:t>Eight combinations searched on PR-AUC. Almost no effect, and we report that honestly.</a:t>
            </a:r>
            <a:endParaRPr lang="en-US" sz="1200" dirty="0"/>
          </a:p>
        </p:txBody>
      </p:sp>
      <p:sp>
        <p:nvSpPr>
          <p:cNvPr id="22" name="Text 20"/>
          <p:cNvSpPr/>
          <p:nvPr/>
        </p:nvSpPr>
        <p:spPr>
          <a:xfrm>
            <a:off x="7955280" y="4553712"/>
            <a:ext cx="3383280" cy="457200"/>
          </a:xfrm>
          <a:prstGeom prst="rect">
            <a:avLst/>
          </a:prstGeom>
          <a:noFill/>
          <a:ln/>
        </p:spPr>
        <p:txBody>
          <a:bodyPr wrap="square" rtlCol="0" anchor="ctr"/>
          <a:lstStyle/>
          <a:p>
            <a:pPr marL="0" indent="0" algn="r">
              <a:buNone/>
            </a:pPr>
            <a:r>
              <a:rPr lang="en-US" sz="2600" b="1" dirty="0">
                <a:solidFill>
                  <a:srgbClr val="AAAAAA"/>
                </a:solidFill>
                <a:latin typeface="Cambria" pitchFamily="34" charset="0"/>
                <a:ea typeface="Cambria" pitchFamily="34" charset="-122"/>
                <a:cs typeface="Cambria" pitchFamily="34" charset="-120"/>
              </a:rPr>
              <a:t>+0.004</a:t>
            </a:r>
            <a:endParaRPr lang="en-US" sz="2600" dirty="0"/>
          </a:p>
        </p:txBody>
      </p:sp>
      <p:sp>
        <p:nvSpPr>
          <p:cNvPr id="23" name="Text 21"/>
          <p:cNvSpPr/>
          <p:nvPr/>
        </p:nvSpPr>
        <p:spPr>
          <a:xfrm>
            <a:off x="7955280" y="5010912"/>
            <a:ext cx="3383280" cy="274320"/>
          </a:xfrm>
          <a:prstGeom prst="rect">
            <a:avLst/>
          </a:prstGeom>
          <a:noFill/>
          <a:ln/>
        </p:spPr>
        <p:txBody>
          <a:bodyPr wrap="square" rtlCol="0" anchor="ctr"/>
          <a:lstStyle/>
          <a:p>
            <a:pPr marL="0" indent="0" algn="r">
              <a:buNone/>
            </a:pPr>
            <a:r>
              <a:rPr lang="en-US" sz="1100" dirty="0">
                <a:solidFill>
                  <a:srgbClr val="4A4F57"/>
                </a:solidFill>
                <a:latin typeface="Calibri" pitchFamily="34" charset="0"/>
                <a:ea typeface="Calibri" pitchFamily="34" charset="-122"/>
                <a:cs typeface="Calibri" pitchFamily="34" charset="-120"/>
              </a:rPr>
              <a:t>PR-AUC gain</a:t>
            </a:r>
            <a:endParaRPr lang="en-US" sz="1100" dirty="0"/>
          </a:p>
        </p:txBody>
      </p:sp>
      <p:sp>
        <p:nvSpPr>
          <p:cNvPr id="24" name="Text 22"/>
          <p:cNvSpPr/>
          <p:nvPr/>
        </p:nvSpPr>
        <p:spPr>
          <a:xfrm>
            <a:off x="548640" y="5760720"/>
            <a:ext cx="10972800" cy="320040"/>
          </a:xfrm>
          <a:prstGeom prst="rect">
            <a:avLst/>
          </a:prstGeom>
          <a:noFill/>
          <a:ln/>
        </p:spPr>
        <p:txBody>
          <a:bodyPr wrap="square" rtlCol="0" anchor="ctr"/>
          <a:lstStyle/>
          <a:p>
            <a:pPr marL="0" indent="0" algn="ctr">
              <a:buNone/>
            </a:pPr>
            <a:r>
              <a:rPr lang="en-US" sz="1300" i="1" dirty="0">
                <a:solidFill>
                  <a:srgbClr val="0033A1"/>
                </a:solidFill>
                <a:latin typeface="Calibri" pitchFamily="34" charset="0"/>
                <a:ea typeface="Calibri" pitchFamily="34" charset="-122"/>
                <a:cs typeface="Calibri" pitchFamily="34" charset="-120"/>
              </a:rPr>
              <a:t>The ordering is the finding. Understanding the data and pricing the decision produced almost all of the value.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994392" cy="548640"/>
          </a:xfrm>
          <a:prstGeom prst="rect">
            <a:avLst/>
          </a:prstGeom>
          <a:noFill/>
          <a:ln/>
        </p:spPr>
        <p:txBody>
          <a:bodyPr wrap="square" rtlCol="0" anchor="ctr"/>
          <a:lstStyle/>
          <a:p>
            <a:pPr marL="0" indent="0">
              <a:buNone/>
            </a:pPr>
            <a:r>
              <a:rPr lang="en-US" sz="3000" b="1" dirty="0">
                <a:solidFill>
                  <a:srgbClr val="0033A1"/>
                </a:solidFill>
                <a:latin typeface="Cambria" pitchFamily="34" charset="0"/>
                <a:ea typeface="Cambria" pitchFamily="34" charset="-122"/>
                <a:cs typeface="Cambria" pitchFamily="34" charset="-120"/>
              </a:rPr>
              <a:t>The Final Model</a:t>
            </a:r>
            <a:endParaRPr lang="en-US" sz="3000" dirty="0"/>
          </a:p>
        </p:txBody>
      </p:sp>
      <p:sp>
        <p:nvSpPr>
          <p:cNvPr id="3" name="Text 1"/>
          <p:cNvSpPr/>
          <p:nvPr/>
        </p:nvSpPr>
        <p:spPr>
          <a:xfrm>
            <a:off x="640080" y="941832"/>
            <a:ext cx="9994392" cy="310896"/>
          </a:xfrm>
          <a:prstGeom prst="rect">
            <a:avLst/>
          </a:prstGeom>
          <a:noFill/>
          <a:ln/>
        </p:spPr>
        <p:txBody>
          <a:bodyPr wrap="square" rtlCol="0" anchor="ctr"/>
          <a:lstStyle/>
          <a:p>
            <a:pPr marL="0" indent="0">
              <a:buNone/>
            </a:pPr>
            <a:r>
              <a:rPr lang="en-US" sz="1400" dirty="0">
                <a:solidFill>
                  <a:srgbClr val="4A4F57"/>
                </a:solidFill>
                <a:latin typeface="Calibri" pitchFamily="34" charset="0"/>
                <a:ea typeface="Calibri" pitchFamily="34" charset="-122"/>
                <a:cs typeface="Calibri" pitchFamily="34" charset="-120"/>
              </a:rPr>
              <a:t>Tuned XGBoost, nine features, all available at the moment of decision</a:t>
            </a:r>
            <a:endParaRPr lang="en-US" sz="1400" dirty="0"/>
          </a:p>
        </p:txBody>
      </p:sp>
      <p:sp>
        <p:nvSpPr>
          <p:cNvPr id="4" name="Text 2"/>
          <p:cNvSpPr/>
          <p:nvPr/>
        </p:nvSpPr>
        <p:spPr>
          <a:xfrm>
            <a:off x="10725912" y="384048"/>
            <a:ext cx="822960" cy="457200"/>
          </a:xfrm>
          <a:prstGeom prst="rect">
            <a:avLst/>
          </a:prstGeom>
          <a:noFill/>
          <a:ln/>
        </p:spPr>
        <p:txBody>
          <a:bodyPr wrap="square" rtlCol="0" anchor="ctr"/>
          <a:lstStyle/>
          <a:p>
            <a:pPr marL="0" indent="0" algn="r">
              <a:buNone/>
            </a:pPr>
            <a:r>
              <a:rPr lang="en-US" sz="2600" b="1" dirty="0">
                <a:solidFill>
                  <a:srgbClr val="D5DEEF"/>
                </a:solidFill>
                <a:latin typeface="Cambria" pitchFamily="34" charset="0"/>
                <a:ea typeface="Cambria" pitchFamily="34" charset="-122"/>
                <a:cs typeface="Cambria" pitchFamily="34" charset="-120"/>
              </a:rPr>
              <a:t>09</a:t>
            </a:r>
            <a:endParaRPr lang="en-US" sz="2600" dirty="0"/>
          </a:p>
        </p:txBody>
      </p:sp>
      <p:sp>
        <p:nvSpPr>
          <p:cNvPr id="5" name="Text 3"/>
          <p:cNvSpPr/>
          <p:nvPr/>
        </p:nvSpPr>
        <p:spPr>
          <a:xfrm>
            <a:off x="640080" y="6437376"/>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FinTech Titans  |  Catching Fraud in Mobile Money</a:t>
            </a:r>
            <a:endParaRPr lang="en-US" sz="900" dirty="0"/>
          </a:p>
        </p:txBody>
      </p:sp>
      <p:sp>
        <p:nvSpPr>
          <p:cNvPr id="6" name="Shape 4"/>
          <p:cNvSpPr/>
          <p:nvPr/>
        </p:nvSpPr>
        <p:spPr>
          <a:xfrm>
            <a:off x="548640" y="1600200"/>
            <a:ext cx="2651760" cy="1371600"/>
          </a:xfrm>
          <a:prstGeom prst="roundRect">
            <a:avLst>
              <a:gd name="adj" fmla="val 3333"/>
            </a:avLst>
          </a:prstGeom>
          <a:solidFill>
            <a:srgbClr val="F2F5FB"/>
          </a:solidFill>
          <a:ln w="12700">
            <a:solidFill>
              <a:srgbClr val="D5DEEF"/>
            </a:solidFill>
            <a:prstDash val="solid"/>
          </a:ln>
        </p:spPr>
        <p:txBody>
          <a:bodyPr/>
          <a:lstStyle/>
          <a:p>
            <a:endParaRPr lang="en-US"/>
          </a:p>
        </p:txBody>
      </p:sp>
      <p:sp>
        <p:nvSpPr>
          <p:cNvPr id="7" name="Text 5"/>
          <p:cNvSpPr/>
          <p:nvPr/>
        </p:nvSpPr>
        <p:spPr>
          <a:xfrm>
            <a:off x="566928" y="1755648"/>
            <a:ext cx="2615184" cy="658368"/>
          </a:xfrm>
          <a:prstGeom prst="rect">
            <a:avLst/>
          </a:prstGeom>
          <a:noFill/>
          <a:ln/>
        </p:spPr>
        <p:txBody>
          <a:bodyPr wrap="square" rtlCol="0" anchor="ctr"/>
          <a:lstStyle/>
          <a:p>
            <a:pPr marL="0" indent="0" algn="ctr">
              <a:buNone/>
            </a:pPr>
            <a:r>
              <a:rPr lang="en-US" sz="3400" b="1" dirty="0">
                <a:solidFill>
                  <a:srgbClr val="0033A1"/>
                </a:solidFill>
                <a:latin typeface="Cambria" pitchFamily="34" charset="0"/>
                <a:ea typeface="Cambria" pitchFamily="34" charset="-122"/>
                <a:cs typeface="Cambria" pitchFamily="34" charset="-120"/>
              </a:rPr>
              <a:t>0.836</a:t>
            </a:r>
            <a:endParaRPr lang="en-US" sz="3400" dirty="0"/>
          </a:p>
        </p:txBody>
      </p:sp>
      <p:sp>
        <p:nvSpPr>
          <p:cNvPr id="8" name="Text 6"/>
          <p:cNvSpPr/>
          <p:nvPr/>
        </p:nvSpPr>
        <p:spPr>
          <a:xfrm>
            <a:off x="658368" y="2423160"/>
            <a:ext cx="2432304" cy="438912"/>
          </a:xfrm>
          <a:prstGeom prst="rect">
            <a:avLst/>
          </a:prstGeom>
          <a:noFill/>
          <a:ln/>
        </p:spPr>
        <p:txBody>
          <a:bodyPr wrap="square" rtlCol="0" anchor="ctr"/>
          <a:lstStyle/>
          <a:p>
            <a:pPr marL="0" indent="0" algn="ctr">
              <a:buNone/>
            </a:pPr>
            <a:r>
              <a:rPr lang="en-US" sz="1100" dirty="0">
                <a:solidFill>
                  <a:srgbClr val="4A4F57"/>
                </a:solidFill>
                <a:latin typeface="Calibri" pitchFamily="34" charset="0"/>
                <a:ea typeface="Calibri" pitchFamily="34" charset="-122"/>
                <a:cs typeface="Calibri" pitchFamily="34" charset="-120"/>
              </a:rPr>
              <a:t>PR-AUC</a:t>
            </a:r>
            <a:endParaRPr lang="en-US" sz="1100" dirty="0"/>
          </a:p>
          <a:p>
            <a:pPr marL="0" indent="0" algn="ctr">
              <a:buNone/>
            </a:pPr>
            <a:r>
              <a:rPr lang="en-US" sz="1100" dirty="0">
                <a:solidFill>
                  <a:srgbClr val="4A4F57"/>
                </a:solidFill>
                <a:latin typeface="Calibri" pitchFamily="34" charset="0"/>
                <a:ea typeface="Calibri" pitchFamily="34" charset="-122"/>
                <a:cs typeface="Calibri" pitchFamily="34" charset="-120"/>
              </a:rPr>
              <a:t>640x better than random</a:t>
            </a:r>
            <a:endParaRPr lang="en-US" sz="1100" dirty="0"/>
          </a:p>
        </p:txBody>
      </p:sp>
      <p:sp>
        <p:nvSpPr>
          <p:cNvPr id="9" name="Shape 7"/>
          <p:cNvSpPr/>
          <p:nvPr/>
        </p:nvSpPr>
        <p:spPr>
          <a:xfrm>
            <a:off x="3383280" y="1600200"/>
            <a:ext cx="2651760" cy="1371600"/>
          </a:xfrm>
          <a:prstGeom prst="roundRect">
            <a:avLst>
              <a:gd name="adj" fmla="val 3333"/>
            </a:avLst>
          </a:prstGeom>
          <a:solidFill>
            <a:srgbClr val="F2F5FB"/>
          </a:solidFill>
          <a:ln w="12700">
            <a:solidFill>
              <a:srgbClr val="D5DEEF"/>
            </a:solidFill>
            <a:prstDash val="solid"/>
          </a:ln>
        </p:spPr>
        <p:txBody>
          <a:bodyPr/>
          <a:lstStyle/>
          <a:p>
            <a:endParaRPr lang="en-US"/>
          </a:p>
        </p:txBody>
      </p:sp>
      <p:sp>
        <p:nvSpPr>
          <p:cNvPr id="10" name="Text 8"/>
          <p:cNvSpPr/>
          <p:nvPr/>
        </p:nvSpPr>
        <p:spPr>
          <a:xfrm>
            <a:off x="3401568" y="1755648"/>
            <a:ext cx="2615184" cy="658368"/>
          </a:xfrm>
          <a:prstGeom prst="rect">
            <a:avLst/>
          </a:prstGeom>
          <a:noFill/>
          <a:ln/>
        </p:spPr>
        <p:txBody>
          <a:bodyPr wrap="square" rtlCol="0" anchor="ctr"/>
          <a:lstStyle/>
          <a:p>
            <a:pPr marL="0" indent="0" algn="ctr">
              <a:buNone/>
            </a:pPr>
            <a:r>
              <a:rPr lang="en-US" sz="3400" b="1" dirty="0">
                <a:solidFill>
                  <a:srgbClr val="1E7B4D"/>
                </a:solidFill>
                <a:latin typeface="Cambria" pitchFamily="34" charset="0"/>
                <a:ea typeface="Cambria" pitchFamily="34" charset="-122"/>
                <a:cs typeface="Cambria" pitchFamily="34" charset="-120"/>
              </a:rPr>
              <a:t>91.4%</a:t>
            </a:r>
            <a:endParaRPr lang="en-US" sz="3400" dirty="0"/>
          </a:p>
        </p:txBody>
      </p:sp>
      <p:sp>
        <p:nvSpPr>
          <p:cNvPr id="11" name="Text 9"/>
          <p:cNvSpPr/>
          <p:nvPr/>
        </p:nvSpPr>
        <p:spPr>
          <a:xfrm>
            <a:off x="3493008" y="2423160"/>
            <a:ext cx="2432304" cy="438912"/>
          </a:xfrm>
          <a:prstGeom prst="rect">
            <a:avLst/>
          </a:prstGeom>
          <a:noFill/>
          <a:ln/>
        </p:spPr>
        <p:txBody>
          <a:bodyPr wrap="square" rtlCol="0" anchor="ctr"/>
          <a:lstStyle/>
          <a:p>
            <a:pPr marL="0" indent="0" algn="ctr">
              <a:buNone/>
            </a:pPr>
            <a:r>
              <a:rPr lang="en-US" sz="1100" dirty="0">
                <a:solidFill>
                  <a:srgbClr val="4A4F57"/>
                </a:solidFill>
                <a:latin typeface="Calibri" pitchFamily="34" charset="0"/>
                <a:ea typeface="Calibri" pitchFamily="34" charset="-122"/>
                <a:cs typeface="Calibri" pitchFamily="34" charset="-120"/>
              </a:rPr>
              <a:t>Precision</a:t>
            </a:r>
            <a:endParaRPr lang="en-US" sz="1100" dirty="0"/>
          </a:p>
          <a:p>
            <a:pPr marL="0" indent="0" algn="ctr">
              <a:buNone/>
            </a:pPr>
            <a:r>
              <a:rPr lang="en-US" sz="1100" dirty="0">
                <a:solidFill>
                  <a:srgbClr val="4A4F57"/>
                </a:solidFill>
                <a:latin typeface="Calibri" pitchFamily="34" charset="0"/>
                <a:ea typeface="Calibri" pitchFamily="34" charset="-122"/>
                <a:cs typeface="Calibri" pitchFamily="34" charset="-120"/>
              </a:rPr>
              <a:t>17 false alarms of 198</a:t>
            </a:r>
            <a:endParaRPr lang="en-US" sz="1100" dirty="0"/>
          </a:p>
        </p:txBody>
      </p:sp>
      <p:sp>
        <p:nvSpPr>
          <p:cNvPr id="12" name="Shape 10"/>
          <p:cNvSpPr/>
          <p:nvPr/>
        </p:nvSpPr>
        <p:spPr>
          <a:xfrm>
            <a:off x="6217920" y="1600200"/>
            <a:ext cx="2651760" cy="1371600"/>
          </a:xfrm>
          <a:prstGeom prst="roundRect">
            <a:avLst>
              <a:gd name="adj" fmla="val 3333"/>
            </a:avLst>
          </a:prstGeom>
          <a:solidFill>
            <a:srgbClr val="F2F5FB"/>
          </a:solidFill>
          <a:ln w="12700">
            <a:solidFill>
              <a:srgbClr val="D5DEEF"/>
            </a:solidFill>
            <a:prstDash val="solid"/>
          </a:ln>
        </p:spPr>
        <p:txBody>
          <a:bodyPr/>
          <a:lstStyle/>
          <a:p>
            <a:endParaRPr lang="en-US"/>
          </a:p>
        </p:txBody>
      </p:sp>
      <p:sp>
        <p:nvSpPr>
          <p:cNvPr id="13" name="Text 11"/>
          <p:cNvSpPr/>
          <p:nvPr/>
        </p:nvSpPr>
        <p:spPr>
          <a:xfrm>
            <a:off x="6236208" y="1755648"/>
            <a:ext cx="2615184" cy="658368"/>
          </a:xfrm>
          <a:prstGeom prst="rect">
            <a:avLst/>
          </a:prstGeom>
          <a:noFill/>
          <a:ln/>
        </p:spPr>
        <p:txBody>
          <a:bodyPr wrap="square" rtlCol="0" anchor="ctr"/>
          <a:lstStyle/>
          <a:p>
            <a:pPr marL="0" indent="0" algn="ctr">
              <a:buNone/>
            </a:pPr>
            <a:r>
              <a:rPr lang="en-US" sz="3400" b="1" dirty="0">
                <a:solidFill>
                  <a:srgbClr val="1E7B4D"/>
                </a:solidFill>
                <a:latin typeface="Cambria" pitchFamily="34" charset="0"/>
                <a:ea typeface="Cambria" pitchFamily="34" charset="-122"/>
                <a:cs typeface="Cambria" pitchFamily="34" charset="-120"/>
              </a:rPr>
              <a:t>71.0%</a:t>
            </a:r>
            <a:endParaRPr lang="en-US" sz="3400" dirty="0"/>
          </a:p>
        </p:txBody>
      </p:sp>
      <p:sp>
        <p:nvSpPr>
          <p:cNvPr id="14" name="Text 12"/>
          <p:cNvSpPr/>
          <p:nvPr/>
        </p:nvSpPr>
        <p:spPr>
          <a:xfrm>
            <a:off x="6327648" y="2423160"/>
            <a:ext cx="2432304" cy="438912"/>
          </a:xfrm>
          <a:prstGeom prst="rect">
            <a:avLst/>
          </a:prstGeom>
          <a:noFill/>
          <a:ln/>
        </p:spPr>
        <p:txBody>
          <a:bodyPr wrap="square" rtlCol="0" anchor="ctr"/>
          <a:lstStyle/>
          <a:p>
            <a:pPr marL="0" indent="0" algn="ctr">
              <a:buNone/>
            </a:pPr>
            <a:r>
              <a:rPr lang="en-US" sz="1100" dirty="0">
                <a:solidFill>
                  <a:srgbClr val="4A4F57"/>
                </a:solidFill>
                <a:latin typeface="Calibri" pitchFamily="34" charset="0"/>
                <a:ea typeface="Calibri" pitchFamily="34" charset="-122"/>
                <a:cs typeface="Calibri" pitchFamily="34" charset="-120"/>
              </a:rPr>
              <a:t>Recall</a:t>
            </a:r>
            <a:endParaRPr lang="en-US" sz="1100" dirty="0"/>
          </a:p>
          <a:p>
            <a:pPr marL="0" indent="0" algn="ctr">
              <a:buNone/>
            </a:pPr>
            <a:r>
              <a:rPr lang="en-US" sz="1100" dirty="0">
                <a:solidFill>
                  <a:srgbClr val="4A4F57"/>
                </a:solidFill>
                <a:latin typeface="Calibri" pitchFamily="34" charset="0"/>
                <a:ea typeface="Calibri" pitchFamily="34" charset="-122"/>
                <a:cs typeface="Calibri" pitchFamily="34" charset="-120"/>
              </a:rPr>
              <a:t>181 of 255 frauds caught</a:t>
            </a:r>
            <a:endParaRPr lang="en-US" sz="1100" dirty="0"/>
          </a:p>
        </p:txBody>
      </p:sp>
      <p:sp>
        <p:nvSpPr>
          <p:cNvPr id="15" name="Shape 13"/>
          <p:cNvSpPr/>
          <p:nvPr/>
        </p:nvSpPr>
        <p:spPr>
          <a:xfrm>
            <a:off x="9052560" y="1600200"/>
            <a:ext cx="2468880" cy="1371600"/>
          </a:xfrm>
          <a:prstGeom prst="roundRect">
            <a:avLst>
              <a:gd name="adj" fmla="val 3333"/>
            </a:avLst>
          </a:prstGeom>
          <a:solidFill>
            <a:srgbClr val="F2F5FB"/>
          </a:solidFill>
          <a:ln w="12700">
            <a:solidFill>
              <a:srgbClr val="D5DEEF"/>
            </a:solidFill>
            <a:prstDash val="solid"/>
          </a:ln>
        </p:spPr>
        <p:txBody>
          <a:bodyPr/>
          <a:lstStyle/>
          <a:p>
            <a:endParaRPr lang="en-US"/>
          </a:p>
        </p:txBody>
      </p:sp>
      <p:sp>
        <p:nvSpPr>
          <p:cNvPr id="16" name="Text 14"/>
          <p:cNvSpPr/>
          <p:nvPr/>
        </p:nvSpPr>
        <p:spPr>
          <a:xfrm>
            <a:off x="9070848" y="1755648"/>
            <a:ext cx="2432304" cy="658368"/>
          </a:xfrm>
          <a:prstGeom prst="rect">
            <a:avLst/>
          </a:prstGeom>
          <a:noFill/>
          <a:ln/>
        </p:spPr>
        <p:txBody>
          <a:bodyPr wrap="square" rtlCol="0" anchor="ctr"/>
          <a:lstStyle/>
          <a:p>
            <a:pPr marL="0" indent="0" algn="ctr">
              <a:buNone/>
            </a:pPr>
            <a:r>
              <a:rPr lang="en-US" sz="3400" b="1" dirty="0">
                <a:solidFill>
                  <a:srgbClr val="D0021B"/>
                </a:solidFill>
                <a:latin typeface="Cambria" pitchFamily="34" charset="0"/>
                <a:ea typeface="Cambria" pitchFamily="34" charset="-122"/>
                <a:cs typeface="Cambria" pitchFamily="34" charset="-120"/>
              </a:rPr>
              <a:t>198</a:t>
            </a:r>
            <a:endParaRPr lang="en-US" sz="3400" dirty="0"/>
          </a:p>
        </p:txBody>
      </p:sp>
      <p:sp>
        <p:nvSpPr>
          <p:cNvPr id="17" name="Text 15"/>
          <p:cNvSpPr/>
          <p:nvPr/>
        </p:nvSpPr>
        <p:spPr>
          <a:xfrm>
            <a:off x="9162288" y="2423160"/>
            <a:ext cx="2249424" cy="438912"/>
          </a:xfrm>
          <a:prstGeom prst="rect">
            <a:avLst/>
          </a:prstGeom>
          <a:noFill/>
          <a:ln/>
        </p:spPr>
        <p:txBody>
          <a:bodyPr wrap="square" rtlCol="0" anchor="ctr"/>
          <a:lstStyle/>
          <a:p>
            <a:pPr marL="0" indent="0" algn="ctr">
              <a:buNone/>
            </a:pPr>
            <a:r>
              <a:rPr lang="en-US" sz="1100" dirty="0">
                <a:solidFill>
                  <a:srgbClr val="4A4F57"/>
                </a:solidFill>
                <a:latin typeface="Calibri" pitchFamily="34" charset="0"/>
                <a:ea typeface="Calibri" pitchFamily="34" charset="-122"/>
                <a:cs typeface="Calibri" pitchFamily="34" charset="-120"/>
              </a:rPr>
              <a:t>Alerts raised</a:t>
            </a:r>
            <a:endParaRPr lang="en-US" sz="1100" dirty="0"/>
          </a:p>
          <a:p>
            <a:pPr marL="0" indent="0" algn="ctr">
              <a:buNone/>
            </a:pPr>
            <a:r>
              <a:rPr lang="en-US" sz="1100" dirty="0">
                <a:solidFill>
                  <a:srgbClr val="4A4F57"/>
                </a:solidFill>
                <a:latin typeface="Calibri" pitchFamily="34" charset="0"/>
                <a:ea typeface="Calibri" pitchFamily="34" charset="-122"/>
                <a:cs typeface="Calibri" pitchFamily="34" charset="-120"/>
              </a:rPr>
              <a:t>out of 190,879</a:t>
            </a:r>
            <a:endParaRPr lang="en-US" sz="1100" dirty="0"/>
          </a:p>
        </p:txBody>
      </p:sp>
      <p:sp>
        <p:nvSpPr>
          <p:cNvPr id="18" name="Shape 16"/>
          <p:cNvSpPr/>
          <p:nvPr/>
        </p:nvSpPr>
        <p:spPr>
          <a:xfrm>
            <a:off x="548640" y="3246120"/>
            <a:ext cx="5440680" cy="2331720"/>
          </a:xfrm>
          <a:prstGeom prst="roundRect">
            <a:avLst>
              <a:gd name="adj" fmla="val 1961"/>
            </a:avLst>
          </a:prstGeom>
          <a:solidFill>
            <a:srgbClr val="F2F5FB"/>
          </a:solidFill>
          <a:ln w="12700">
            <a:solidFill>
              <a:srgbClr val="D5DEEF"/>
            </a:solidFill>
            <a:prstDash val="solid"/>
          </a:ln>
        </p:spPr>
        <p:txBody>
          <a:bodyPr/>
          <a:lstStyle/>
          <a:p>
            <a:endParaRPr lang="en-US"/>
          </a:p>
        </p:txBody>
      </p:sp>
      <p:sp>
        <p:nvSpPr>
          <p:cNvPr id="19" name="Text 17"/>
          <p:cNvSpPr/>
          <p:nvPr/>
        </p:nvSpPr>
        <p:spPr>
          <a:xfrm>
            <a:off x="777240" y="3410712"/>
            <a:ext cx="4983480" cy="274320"/>
          </a:xfrm>
          <a:prstGeom prst="rect">
            <a:avLst/>
          </a:prstGeom>
          <a:noFill/>
          <a:ln/>
        </p:spPr>
        <p:txBody>
          <a:bodyPr wrap="square" rtlCol="0" anchor="ctr"/>
          <a:lstStyle/>
          <a:p>
            <a:pPr marL="0" indent="0">
              <a:buNone/>
            </a:pPr>
            <a:r>
              <a:rPr lang="en-US" sz="1500" b="1" dirty="0">
                <a:solidFill>
                  <a:srgbClr val="0033A1"/>
                </a:solidFill>
                <a:latin typeface="Calibri" pitchFamily="34" charset="0"/>
                <a:ea typeface="Calibri" pitchFamily="34" charset="-122"/>
                <a:cs typeface="Calibri" pitchFamily="34" charset="-120"/>
              </a:rPr>
              <a:t>Held out test set</a:t>
            </a:r>
            <a:endParaRPr lang="en-US" sz="1500" dirty="0"/>
          </a:p>
        </p:txBody>
      </p:sp>
      <p:sp>
        <p:nvSpPr>
          <p:cNvPr id="20" name="Text 18"/>
          <p:cNvSpPr/>
          <p:nvPr/>
        </p:nvSpPr>
        <p:spPr>
          <a:xfrm>
            <a:off x="777240" y="3749040"/>
            <a:ext cx="4983480" cy="164592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190,879 transactions, used once at the very end.
</a:t>
            </a:r>
            <a:r>
              <a:rPr lang="en-US" sz="1300" dirty="0">
                <a:solidFill>
                  <a:srgbClr val="4A4F57"/>
                </a:solidFill>
                <a:latin typeface="Calibri" pitchFamily="34" charset="0"/>
                <a:ea typeface="Calibri" pitchFamily="34" charset="-122"/>
                <a:cs typeface="Calibri" pitchFamily="34" charset="-120"/>
              </a:rPr>
              <a:t>The threshold was chosen on a separate validation set that played no part in training. That is what keeps the final figure honest.</a:t>
            </a:r>
            <a:endParaRPr lang="en-US" sz="1300" dirty="0"/>
          </a:p>
        </p:txBody>
      </p:sp>
      <p:sp>
        <p:nvSpPr>
          <p:cNvPr id="21" name="Shape 19"/>
          <p:cNvSpPr/>
          <p:nvPr/>
        </p:nvSpPr>
        <p:spPr>
          <a:xfrm>
            <a:off x="6263640" y="3246120"/>
            <a:ext cx="5257800" cy="2331720"/>
          </a:xfrm>
          <a:prstGeom prst="roundRect">
            <a:avLst>
              <a:gd name="adj" fmla="val 1961"/>
            </a:avLst>
          </a:prstGeom>
          <a:solidFill>
            <a:srgbClr val="F2F5FB"/>
          </a:solidFill>
          <a:ln w="12700">
            <a:solidFill>
              <a:srgbClr val="D5DEEF"/>
            </a:solidFill>
            <a:prstDash val="solid"/>
          </a:ln>
        </p:spPr>
        <p:txBody>
          <a:bodyPr/>
          <a:lstStyle/>
          <a:p>
            <a:endParaRPr lang="en-US"/>
          </a:p>
        </p:txBody>
      </p:sp>
      <p:sp>
        <p:nvSpPr>
          <p:cNvPr id="22" name="Text 20"/>
          <p:cNvSpPr/>
          <p:nvPr/>
        </p:nvSpPr>
        <p:spPr>
          <a:xfrm>
            <a:off x="6492240" y="3410712"/>
            <a:ext cx="4800600" cy="274320"/>
          </a:xfrm>
          <a:prstGeom prst="rect">
            <a:avLst/>
          </a:prstGeom>
          <a:noFill/>
          <a:ln/>
        </p:spPr>
        <p:txBody>
          <a:bodyPr wrap="square" rtlCol="0" anchor="ctr"/>
          <a:lstStyle/>
          <a:p>
            <a:pPr marL="0" indent="0">
              <a:buNone/>
            </a:pPr>
            <a:r>
              <a:rPr lang="en-US" sz="1500" b="1" dirty="0">
                <a:solidFill>
                  <a:srgbClr val="0033A1"/>
                </a:solidFill>
                <a:latin typeface="Calibri" pitchFamily="34" charset="0"/>
                <a:ea typeface="Calibri" pitchFamily="34" charset="-122"/>
                <a:cs typeface="Calibri" pitchFamily="34" charset="-120"/>
              </a:rPr>
              <a:t>Explainability built in</a:t>
            </a:r>
            <a:endParaRPr lang="en-US" sz="1500" dirty="0"/>
          </a:p>
        </p:txBody>
      </p:sp>
      <p:sp>
        <p:nvSpPr>
          <p:cNvPr id="23" name="Text 21"/>
          <p:cNvSpPr/>
          <p:nvPr/>
        </p:nvSpPr>
        <p:spPr>
          <a:xfrm>
            <a:off x="6492240" y="3749040"/>
            <a:ext cx="4800600" cy="164592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Three methods agree on what drives the model: coefficients, tree importance and permutation importance.
</a:t>
            </a:r>
            <a:r>
              <a:rPr lang="en-US" sz="1300" dirty="0">
                <a:solidFill>
                  <a:srgbClr val="4A4F57"/>
                </a:solidFill>
                <a:latin typeface="Calibri" pitchFamily="34" charset="0"/>
                <a:ea typeface="Calibri" pitchFamily="34" charset="-122"/>
                <a:cs typeface="Calibri" pitchFamily="34" charset="-120"/>
              </a:rPr>
              <a:t>Every individual decision comes with a contribution breakdown, so an analyst can always be given a reason.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994392" cy="548640"/>
          </a:xfrm>
          <a:prstGeom prst="rect">
            <a:avLst/>
          </a:prstGeom>
          <a:noFill/>
          <a:ln/>
        </p:spPr>
        <p:txBody>
          <a:bodyPr wrap="square" rtlCol="0" anchor="ctr"/>
          <a:lstStyle/>
          <a:p>
            <a:pPr marL="0" indent="0">
              <a:buNone/>
            </a:pPr>
            <a:r>
              <a:rPr lang="en-US" sz="3000" b="1" dirty="0">
                <a:solidFill>
                  <a:srgbClr val="0033A1"/>
                </a:solidFill>
                <a:latin typeface="Cambria" pitchFamily="34" charset="0"/>
                <a:ea typeface="Cambria" pitchFamily="34" charset="-122"/>
                <a:cs typeface="Cambria" pitchFamily="34" charset="-120"/>
              </a:rPr>
              <a:t>The Threshold Is a Business Decision</a:t>
            </a:r>
            <a:endParaRPr lang="en-US" sz="3000" dirty="0"/>
          </a:p>
        </p:txBody>
      </p:sp>
      <p:sp>
        <p:nvSpPr>
          <p:cNvPr id="3" name="Text 1"/>
          <p:cNvSpPr/>
          <p:nvPr/>
        </p:nvSpPr>
        <p:spPr>
          <a:xfrm>
            <a:off x="640080" y="941832"/>
            <a:ext cx="9994392" cy="310896"/>
          </a:xfrm>
          <a:prstGeom prst="rect">
            <a:avLst/>
          </a:prstGeom>
          <a:noFill/>
          <a:ln/>
        </p:spPr>
        <p:txBody>
          <a:bodyPr wrap="square" rtlCol="0" anchor="ctr"/>
          <a:lstStyle/>
          <a:p>
            <a:pPr marL="0" indent="0">
              <a:buNone/>
            </a:pPr>
            <a:r>
              <a:rPr lang="en-US" sz="1400" dirty="0">
                <a:solidFill>
                  <a:srgbClr val="4A4F57"/>
                </a:solidFill>
                <a:latin typeface="Calibri" pitchFamily="34" charset="0"/>
                <a:ea typeface="Calibri" pitchFamily="34" charset="-122"/>
                <a:cs typeface="Calibri" pitchFamily="34" charset="-120"/>
              </a:rPr>
              <a:t>Priced on what each kind of mistake costs the bank</a:t>
            </a:r>
            <a:endParaRPr lang="en-US" sz="1400" dirty="0"/>
          </a:p>
        </p:txBody>
      </p:sp>
      <p:sp>
        <p:nvSpPr>
          <p:cNvPr id="4" name="Text 2"/>
          <p:cNvSpPr/>
          <p:nvPr/>
        </p:nvSpPr>
        <p:spPr>
          <a:xfrm>
            <a:off x="10725912" y="384048"/>
            <a:ext cx="822960" cy="457200"/>
          </a:xfrm>
          <a:prstGeom prst="rect">
            <a:avLst/>
          </a:prstGeom>
          <a:noFill/>
          <a:ln/>
        </p:spPr>
        <p:txBody>
          <a:bodyPr wrap="square" rtlCol="0" anchor="ctr"/>
          <a:lstStyle/>
          <a:p>
            <a:pPr marL="0" indent="0" algn="r">
              <a:buNone/>
            </a:pPr>
            <a:r>
              <a:rPr lang="en-US" sz="2600" b="1" dirty="0">
                <a:solidFill>
                  <a:srgbClr val="D5DEEF"/>
                </a:solidFill>
                <a:latin typeface="Cambria" pitchFamily="34" charset="0"/>
                <a:ea typeface="Cambria" pitchFamily="34" charset="-122"/>
                <a:cs typeface="Cambria" pitchFamily="34" charset="-120"/>
              </a:rPr>
              <a:t>10</a:t>
            </a:r>
            <a:endParaRPr lang="en-US" sz="2600" dirty="0"/>
          </a:p>
        </p:txBody>
      </p:sp>
      <p:sp>
        <p:nvSpPr>
          <p:cNvPr id="5" name="Text 3"/>
          <p:cNvSpPr/>
          <p:nvPr/>
        </p:nvSpPr>
        <p:spPr>
          <a:xfrm>
            <a:off x="640080" y="6437376"/>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FinTech Titans  |  Catching Fraud in Mobile Money</a:t>
            </a:r>
            <a:endParaRPr lang="en-US" sz="900" dirty="0"/>
          </a:p>
        </p:txBody>
      </p:sp>
      <p:graphicFrame>
        <p:nvGraphicFramePr>
          <p:cNvPr id="6" name="Chart 0"/>
          <p:cNvGraphicFramePr/>
          <p:nvPr/>
        </p:nvGraphicFramePr>
        <p:xfrm>
          <a:off x="548640" y="1600200"/>
          <a:ext cx="66751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548640" y="4709160"/>
            <a:ext cx="6675120" cy="365760"/>
          </a:xfrm>
          <a:prstGeom prst="rect">
            <a:avLst/>
          </a:prstGeom>
          <a:noFill/>
          <a:ln/>
        </p:spPr>
        <p:txBody>
          <a:bodyPr wrap="square" rtlCol="0" anchor="ctr"/>
          <a:lstStyle/>
          <a:p>
            <a:pPr marL="0" indent="0">
              <a:buNone/>
            </a:pPr>
            <a:r>
              <a:rPr lang="en-US" sz="1100" i="1" dirty="0">
                <a:solidFill>
                  <a:srgbClr val="4A4F57"/>
                </a:solidFill>
                <a:latin typeface="Calibri" pitchFamily="34" charset="0"/>
                <a:ea typeface="Calibri" pitchFamily="34" charset="-122"/>
                <a:cs typeface="Calibri" pitchFamily="34" charset="-120"/>
              </a:rPr>
              <a:t>Assumptions: a missed fraud costs R5,000, reviewing a false alarm costs R50. Both adjustable in the dashboard.</a:t>
            </a:r>
            <a:endParaRPr lang="en-US" sz="1100" dirty="0"/>
          </a:p>
        </p:txBody>
      </p:sp>
      <p:sp>
        <p:nvSpPr>
          <p:cNvPr id="8" name="Shape 5"/>
          <p:cNvSpPr/>
          <p:nvPr/>
        </p:nvSpPr>
        <p:spPr>
          <a:xfrm>
            <a:off x="7498080" y="1600200"/>
            <a:ext cx="4023360" cy="3017520"/>
          </a:xfrm>
          <a:prstGeom prst="roundRect">
            <a:avLst>
              <a:gd name="adj" fmla="val 1515"/>
            </a:avLst>
          </a:prstGeom>
          <a:solidFill>
            <a:srgbClr val="F2F5FB"/>
          </a:solidFill>
          <a:ln w="12700">
            <a:solidFill>
              <a:srgbClr val="D5DEEF"/>
            </a:solidFill>
            <a:prstDash val="solid"/>
          </a:ln>
        </p:spPr>
        <p:txBody>
          <a:bodyPr/>
          <a:lstStyle/>
          <a:p>
            <a:endParaRPr lang="en-US"/>
          </a:p>
        </p:txBody>
      </p:sp>
      <p:sp>
        <p:nvSpPr>
          <p:cNvPr id="9" name="Text 6"/>
          <p:cNvSpPr/>
          <p:nvPr/>
        </p:nvSpPr>
        <p:spPr>
          <a:xfrm>
            <a:off x="7726680" y="1764792"/>
            <a:ext cx="3566160" cy="292608"/>
          </a:xfrm>
          <a:prstGeom prst="rect">
            <a:avLst/>
          </a:prstGeom>
          <a:noFill/>
          <a:ln/>
        </p:spPr>
        <p:txBody>
          <a:bodyPr wrap="square" rtlCol="0" anchor="ctr"/>
          <a:lstStyle/>
          <a:p>
            <a:pPr marL="0" indent="0">
              <a:buNone/>
            </a:pPr>
            <a:r>
              <a:rPr lang="en-US" sz="1500" b="1" dirty="0">
                <a:solidFill>
                  <a:srgbClr val="D0021B"/>
                </a:solidFill>
                <a:latin typeface="Calibri" pitchFamily="34" charset="0"/>
                <a:ea typeface="Calibri" pitchFamily="34" charset="-122"/>
                <a:cs typeface="Calibri" pitchFamily="34" charset="-120"/>
              </a:rPr>
              <a:t>The counterintuitive result</a:t>
            </a:r>
            <a:endParaRPr lang="en-US" sz="1500" dirty="0"/>
          </a:p>
        </p:txBody>
      </p:sp>
      <p:sp>
        <p:nvSpPr>
          <p:cNvPr id="10" name="Text 7"/>
          <p:cNvSpPr/>
          <p:nvPr/>
        </p:nvSpPr>
        <p:spPr>
          <a:xfrm>
            <a:off x="7726680" y="2148840"/>
            <a:ext cx="3566160" cy="2331720"/>
          </a:xfrm>
          <a:prstGeom prst="rect">
            <a:avLst/>
          </a:prstGeom>
          <a:noFill/>
          <a:ln/>
        </p:spPr>
        <p:txBody>
          <a:bodyPr wrap="square" rtlCol="0" anchor="ctr"/>
          <a:lstStyle/>
          <a:p>
            <a:pPr marL="0" indent="0">
              <a:buNone/>
            </a:pPr>
            <a:r>
              <a:rPr lang="en-US" sz="1250" dirty="0">
                <a:solidFill>
                  <a:srgbClr val="1A1A1A"/>
                </a:solidFill>
                <a:latin typeface="Calibri" pitchFamily="34" charset="0"/>
                <a:ea typeface="Calibri" pitchFamily="34" charset="-122"/>
                <a:cs typeface="Calibri" pitchFamily="34" charset="-120"/>
              </a:rPr>
              <a:t>The cheapest option has precision of only </a:t>
            </a:r>
            <a:r>
              <a:rPr lang="en-US" sz="1250" b="1" dirty="0">
                <a:solidFill>
                  <a:srgbClr val="0033A1"/>
                </a:solidFill>
                <a:latin typeface="Calibri" pitchFamily="34" charset="0"/>
                <a:ea typeface="Calibri" pitchFamily="34" charset="-122"/>
                <a:cs typeface="Calibri" pitchFamily="34" charset="-120"/>
              </a:rPr>
              <a:t>0.19</a:t>
            </a:r>
            <a:r>
              <a:rPr lang="en-US" sz="1250" dirty="0">
                <a:solidFill>
                  <a:srgbClr val="1A1A1A"/>
                </a:solidFill>
                <a:latin typeface="Calibri" pitchFamily="34" charset="0"/>
                <a:ea typeface="Calibri" pitchFamily="34" charset="-122"/>
                <a:cs typeface="Calibri" pitchFamily="34" charset="-120"/>
              </a:rPr>
              <a:t>, meaning four in five alerts are innocent customers.</a:t>
            </a:r>
            <a:endParaRPr lang="en-US" sz="1250" dirty="0"/>
          </a:p>
          <a:p>
            <a:pPr marL="0" indent="0">
              <a:buNone/>
            </a:pP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It is still by far the best choice. It catches </a:t>
            </a:r>
            <a:endParaRPr lang="en-US" sz="1250" dirty="0"/>
          </a:p>
          <a:p>
            <a:pPr marL="0" indent="0">
              <a:buNone/>
            </a:pPr>
            <a:r>
              <a:rPr lang="en-US" sz="1250" b="1" dirty="0">
                <a:solidFill>
                  <a:srgbClr val="1E7B4D"/>
                </a:solidFill>
                <a:latin typeface="Calibri" pitchFamily="34" charset="0"/>
                <a:ea typeface="Calibri" pitchFamily="34" charset="-122"/>
                <a:cs typeface="Calibri" pitchFamily="34" charset="-120"/>
              </a:rPr>
              <a:t>96 percent</a:t>
            </a:r>
            <a:r>
              <a:rPr lang="en-US" sz="1250" dirty="0">
                <a:solidFill>
                  <a:srgbClr val="1A1A1A"/>
                </a:solidFill>
                <a:latin typeface="Calibri" pitchFamily="34" charset="0"/>
                <a:ea typeface="Calibri" pitchFamily="34" charset="-122"/>
                <a:cs typeface="Calibri" pitchFamily="34" charset="-120"/>
              </a:rPr>
              <a:t> of fraud and cuts losses to R125,800.</a:t>
            </a:r>
            <a:endParaRPr lang="en-US" sz="1250" dirty="0"/>
          </a:p>
          <a:p>
            <a:pPr marL="0" indent="0">
              <a:buNone/>
            </a:pPr>
            <a:endParaRPr lang="en-US" sz="1250" dirty="0"/>
          </a:p>
          <a:p>
            <a:pPr marL="0" indent="0">
              <a:buNone/>
            </a:pPr>
            <a:r>
              <a:rPr lang="en-US" sz="1250" dirty="0">
                <a:solidFill>
                  <a:srgbClr val="1A1A1A"/>
                </a:solidFill>
                <a:latin typeface="Calibri" pitchFamily="34" charset="0"/>
                <a:ea typeface="Calibri" pitchFamily="34" charset="-122"/>
                <a:cs typeface="Calibri" pitchFamily="34" charset="-120"/>
              </a:rPr>
              <a:t>Optimising for a tidy F1 score costs the bank </a:t>
            </a:r>
            <a:endParaRPr lang="en-US" sz="1250" dirty="0"/>
          </a:p>
          <a:p>
            <a:pPr marL="0" indent="0">
              <a:buNone/>
            </a:pPr>
            <a:r>
              <a:rPr lang="en-US" sz="1250" b="1" dirty="0">
                <a:solidFill>
                  <a:srgbClr val="D0021B"/>
                </a:solidFill>
                <a:latin typeface="Calibri" pitchFamily="34" charset="0"/>
                <a:ea typeface="Calibri" pitchFamily="34" charset="-122"/>
                <a:cs typeface="Calibri" pitchFamily="34" charset="-120"/>
              </a:rPr>
              <a:t>R245,050 more</a:t>
            </a:r>
            <a:r>
              <a:rPr lang="en-US" sz="1250" dirty="0">
                <a:solidFill>
                  <a:srgbClr val="1A1A1A"/>
                </a:solidFill>
                <a:latin typeface="Calibri" pitchFamily="34" charset="0"/>
                <a:ea typeface="Calibri" pitchFamily="34" charset="-122"/>
                <a:cs typeface="Calibri" pitchFamily="34" charset="-120"/>
              </a:rPr>
              <a:t>.</a:t>
            </a:r>
            <a:endParaRPr lang="en-US" sz="1250" dirty="0"/>
          </a:p>
        </p:txBody>
      </p:sp>
      <p:sp>
        <p:nvSpPr>
          <p:cNvPr id="11" name="Shape 8"/>
          <p:cNvSpPr/>
          <p:nvPr/>
        </p:nvSpPr>
        <p:spPr>
          <a:xfrm>
            <a:off x="548640" y="5166360"/>
            <a:ext cx="10972800" cy="868680"/>
          </a:xfrm>
          <a:prstGeom prst="roundRect">
            <a:avLst>
              <a:gd name="adj" fmla="val 5263"/>
            </a:avLst>
          </a:prstGeom>
          <a:solidFill>
            <a:srgbClr val="F2F5FB"/>
          </a:solidFill>
          <a:ln w="12700">
            <a:solidFill>
              <a:srgbClr val="D5DEEF"/>
            </a:solidFill>
            <a:prstDash val="solid"/>
          </a:ln>
        </p:spPr>
        <p:txBody>
          <a:bodyPr/>
          <a:lstStyle/>
          <a:p>
            <a:endParaRPr lang="en-US"/>
          </a:p>
        </p:txBody>
      </p:sp>
      <p:sp>
        <p:nvSpPr>
          <p:cNvPr id="12" name="Text 9"/>
          <p:cNvSpPr/>
          <p:nvPr/>
        </p:nvSpPr>
        <p:spPr>
          <a:xfrm>
            <a:off x="777240" y="5330952"/>
            <a:ext cx="10515600" cy="54864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Because a missed fraud costs 100 times more than a wasted review, the bank should deliberately accept a high false alarm rate. </a:t>
            </a:r>
            <a:r>
              <a:rPr lang="en-US" sz="1300" b="1" dirty="0">
                <a:solidFill>
                  <a:srgbClr val="0033A1"/>
                </a:solidFill>
                <a:latin typeface="Calibri" pitchFamily="34" charset="0"/>
                <a:ea typeface="Calibri" pitchFamily="34" charset="-122"/>
                <a:cs typeface="Calibri" pitchFamily="34" charset="-120"/>
              </a:rPr>
              <a:t>A purely technical metric hides this. A cost argument exposes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9994392" cy="548640"/>
          </a:xfrm>
          <a:prstGeom prst="rect">
            <a:avLst/>
          </a:prstGeom>
          <a:noFill/>
          <a:ln/>
        </p:spPr>
        <p:txBody>
          <a:bodyPr wrap="square" rtlCol="0" anchor="ctr"/>
          <a:lstStyle/>
          <a:p>
            <a:pPr marL="0" indent="0">
              <a:buNone/>
            </a:pPr>
            <a:r>
              <a:rPr lang="en-US" sz="3000" b="1" dirty="0">
                <a:solidFill>
                  <a:srgbClr val="0033A1"/>
                </a:solidFill>
                <a:latin typeface="Cambria" pitchFamily="34" charset="0"/>
                <a:ea typeface="Cambria" pitchFamily="34" charset="-122"/>
                <a:cs typeface="Cambria" pitchFamily="34" charset="-120"/>
              </a:rPr>
              <a:t>What We Recommend</a:t>
            </a:r>
            <a:endParaRPr lang="en-US" sz="3000" dirty="0"/>
          </a:p>
        </p:txBody>
      </p:sp>
      <p:sp>
        <p:nvSpPr>
          <p:cNvPr id="3" name="Text 1"/>
          <p:cNvSpPr/>
          <p:nvPr/>
        </p:nvSpPr>
        <p:spPr>
          <a:xfrm>
            <a:off x="640080" y="941832"/>
            <a:ext cx="9994392" cy="310896"/>
          </a:xfrm>
          <a:prstGeom prst="rect">
            <a:avLst/>
          </a:prstGeom>
          <a:noFill/>
          <a:ln/>
        </p:spPr>
        <p:txBody>
          <a:bodyPr wrap="square" rtlCol="0" anchor="ctr"/>
          <a:lstStyle/>
          <a:p>
            <a:pPr marL="0" indent="0">
              <a:buNone/>
            </a:pPr>
            <a:r>
              <a:rPr lang="en-US" sz="1400" dirty="0">
                <a:solidFill>
                  <a:srgbClr val="4A4F57"/>
                </a:solidFill>
                <a:latin typeface="Calibri" pitchFamily="34" charset="0"/>
                <a:ea typeface="Calibri" pitchFamily="34" charset="-122"/>
                <a:cs typeface="Calibri" pitchFamily="34" charset="-120"/>
              </a:rPr>
              <a:t>Six actions, each traceable to a measured finding</a:t>
            </a:r>
            <a:endParaRPr lang="en-US" sz="1400" dirty="0"/>
          </a:p>
        </p:txBody>
      </p:sp>
      <p:sp>
        <p:nvSpPr>
          <p:cNvPr id="4" name="Text 2"/>
          <p:cNvSpPr/>
          <p:nvPr/>
        </p:nvSpPr>
        <p:spPr>
          <a:xfrm>
            <a:off x="10725912" y="384048"/>
            <a:ext cx="822960" cy="457200"/>
          </a:xfrm>
          <a:prstGeom prst="rect">
            <a:avLst/>
          </a:prstGeom>
          <a:noFill/>
          <a:ln/>
        </p:spPr>
        <p:txBody>
          <a:bodyPr wrap="square" rtlCol="0" anchor="ctr"/>
          <a:lstStyle/>
          <a:p>
            <a:pPr marL="0" indent="0" algn="r">
              <a:buNone/>
            </a:pPr>
            <a:r>
              <a:rPr lang="en-US" sz="2600" b="1" dirty="0">
                <a:solidFill>
                  <a:srgbClr val="D5DEEF"/>
                </a:solidFill>
                <a:latin typeface="Cambria" pitchFamily="34" charset="0"/>
                <a:ea typeface="Cambria" pitchFamily="34" charset="-122"/>
                <a:cs typeface="Cambria" pitchFamily="34" charset="-120"/>
              </a:rPr>
              <a:t>11</a:t>
            </a:r>
            <a:endParaRPr lang="en-US" sz="2600" dirty="0"/>
          </a:p>
        </p:txBody>
      </p:sp>
      <p:sp>
        <p:nvSpPr>
          <p:cNvPr id="5" name="Text 3"/>
          <p:cNvSpPr/>
          <p:nvPr/>
        </p:nvSpPr>
        <p:spPr>
          <a:xfrm>
            <a:off x="640080" y="6437376"/>
            <a:ext cx="73152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FinTech Titans  |  Catching Fraud in Mobile Money</a:t>
            </a:r>
            <a:endParaRPr lang="en-US" sz="900" dirty="0"/>
          </a:p>
        </p:txBody>
      </p:sp>
      <p:sp>
        <p:nvSpPr>
          <p:cNvPr id="6" name="Shape 4"/>
          <p:cNvSpPr/>
          <p:nvPr/>
        </p:nvSpPr>
        <p:spPr>
          <a:xfrm>
            <a:off x="548640" y="1554480"/>
            <a:ext cx="5440680" cy="1261872"/>
          </a:xfrm>
          <a:prstGeom prst="roundRect">
            <a:avLst>
              <a:gd name="adj" fmla="val 3623"/>
            </a:avLst>
          </a:prstGeom>
          <a:solidFill>
            <a:srgbClr val="F2F5FB"/>
          </a:solidFill>
          <a:ln w="12700">
            <a:solidFill>
              <a:srgbClr val="D5DEEF"/>
            </a:solidFill>
            <a:prstDash val="solid"/>
          </a:ln>
        </p:spPr>
        <p:txBody>
          <a:bodyPr/>
          <a:lstStyle/>
          <a:p>
            <a:endParaRPr lang="en-US"/>
          </a:p>
        </p:txBody>
      </p:sp>
      <p:sp>
        <p:nvSpPr>
          <p:cNvPr id="7" name="Text 5"/>
          <p:cNvSpPr/>
          <p:nvPr/>
        </p:nvSpPr>
        <p:spPr>
          <a:xfrm>
            <a:off x="749808" y="1737360"/>
            <a:ext cx="502920" cy="365760"/>
          </a:xfrm>
          <a:prstGeom prst="rect">
            <a:avLst/>
          </a:prstGeom>
          <a:noFill/>
          <a:ln/>
        </p:spPr>
        <p:txBody>
          <a:bodyPr wrap="square" rtlCol="0" anchor="ctr"/>
          <a:lstStyle/>
          <a:p>
            <a:pPr marL="0" indent="0">
              <a:buNone/>
            </a:pPr>
            <a:r>
              <a:rPr lang="en-US" sz="2000" b="1" dirty="0">
                <a:solidFill>
                  <a:srgbClr val="D0021B"/>
                </a:solidFill>
                <a:latin typeface="Cambria" pitchFamily="34" charset="0"/>
                <a:ea typeface="Cambria" pitchFamily="34" charset="-122"/>
                <a:cs typeface="Cambria" pitchFamily="34" charset="-120"/>
              </a:rPr>
              <a:t>01</a:t>
            </a:r>
            <a:endParaRPr lang="en-US" sz="2000" dirty="0"/>
          </a:p>
        </p:txBody>
      </p:sp>
      <p:sp>
        <p:nvSpPr>
          <p:cNvPr id="8" name="Text 6"/>
          <p:cNvSpPr/>
          <p:nvPr/>
        </p:nvSpPr>
        <p:spPr>
          <a:xfrm>
            <a:off x="1325880" y="1700784"/>
            <a:ext cx="4480560" cy="438912"/>
          </a:xfrm>
          <a:prstGeom prst="rect">
            <a:avLst/>
          </a:prstGeom>
          <a:noFill/>
          <a:ln/>
        </p:spPr>
        <p:txBody>
          <a:bodyPr wrap="square" rtlCol="0" anchor="ctr"/>
          <a:lstStyle/>
          <a:p>
            <a:pPr marL="0" indent="0">
              <a:buNone/>
            </a:pPr>
            <a:r>
              <a:rPr lang="en-US" sz="1350" b="1" dirty="0">
                <a:solidFill>
                  <a:srgbClr val="0033A1"/>
                </a:solidFill>
                <a:latin typeface="Calibri" pitchFamily="34" charset="0"/>
                <a:ea typeface="Calibri" pitchFamily="34" charset="-122"/>
                <a:cs typeface="Calibri" pitchFamily="34" charset="-120"/>
              </a:rPr>
              <a:t>Score transfers and cash outs in real time</a:t>
            </a:r>
            <a:endParaRPr lang="en-US" sz="1350" dirty="0"/>
          </a:p>
        </p:txBody>
      </p:sp>
      <p:sp>
        <p:nvSpPr>
          <p:cNvPr id="9" name="Text 7"/>
          <p:cNvSpPr/>
          <p:nvPr/>
        </p:nvSpPr>
        <p:spPr>
          <a:xfrm>
            <a:off x="1325880" y="2157984"/>
            <a:ext cx="4480560" cy="548640"/>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Route the other three types around the model. 56 percent less volume, no loss of coverage.</a:t>
            </a:r>
            <a:endParaRPr lang="en-US" sz="1150" dirty="0"/>
          </a:p>
        </p:txBody>
      </p:sp>
      <p:sp>
        <p:nvSpPr>
          <p:cNvPr id="10" name="Shape 8"/>
          <p:cNvSpPr/>
          <p:nvPr/>
        </p:nvSpPr>
        <p:spPr>
          <a:xfrm>
            <a:off x="6172200" y="1554480"/>
            <a:ext cx="5440680" cy="1261872"/>
          </a:xfrm>
          <a:prstGeom prst="roundRect">
            <a:avLst>
              <a:gd name="adj" fmla="val 3623"/>
            </a:avLst>
          </a:prstGeom>
          <a:solidFill>
            <a:srgbClr val="F2F5FB"/>
          </a:solidFill>
          <a:ln w="12700">
            <a:solidFill>
              <a:srgbClr val="D5DEEF"/>
            </a:solidFill>
            <a:prstDash val="solid"/>
          </a:ln>
        </p:spPr>
        <p:txBody>
          <a:bodyPr/>
          <a:lstStyle/>
          <a:p>
            <a:endParaRPr lang="en-US"/>
          </a:p>
        </p:txBody>
      </p:sp>
      <p:sp>
        <p:nvSpPr>
          <p:cNvPr id="11" name="Text 9"/>
          <p:cNvSpPr/>
          <p:nvPr/>
        </p:nvSpPr>
        <p:spPr>
          <a:xfrm>
            <a:off x="6373368" y="1737360"/>
            <a:ext cx="502920" cy="365760"/>
          </a:xfrm>
          <a:prstGeom prst="rect">
            <a:avLst/>
          </a:prstGeom>
          <a:noFill/>
          <a:ln/>
        </p:spPr>
        <p:txBody>
          <a:bodyPr wrap="square" rtlCol="0" anchor="ctr"/>
          <a:lstStyle/>
          <a:p>
            <a:pPr marL="0" indent="0">
              <a:buNone/>
            </a:pPr>
            <a:r>
              <a:rPr lang="en-US" sz="2000" b="1" dirty="0">
                <a:solidFill>
                  <a:srgbClr val="D0021B"/>
                </a:solidFill>
                <a:latin typeface="Cambria" pitchFamily="34" charset="0"/>
                <a:ea typeface="Cambria" pitchFamily="34" charset="-122"/>
                <a:cs typeface="Cambria" pitchFamily="34" charset="-120"/>
              </a:rPr>
              <a:t>02</a:t>
            </a:r>
            <a:endParaRPr lang="en-US" sz="2000" dirty="0"/>
          </a:p>
        </p:txBody>
      </p:sp>
      <p:sp>
        <p:nvSpPr>
          <p:cNvPr id="12" name="Text 10"/>
          <p:cNvSpPr/>
          <p:nvPr/>
        </p:nvSpPr>
        <p:spPr>
          <a:xfrm>
            <a:off x="6949440" y="1700784"/>
            <a:ext cx="4480560" cy="438912"/>
          </a:xfrm>
          <a:prstGeom prst="rect">
            <a:avLst/>
          </a:prstGeom>
          <a:noFill/>
          <a:ln/>
        </p:spPr>
        <p:txBody>
          <a:bodyPr wrap="square" rtlCol="0" anchor="ctr"/>
          <a:lstStyle/>
          <a:p>
            <a:pPr marL="0" indent="0">
              <a:buNone/>
            </a:pPr>
            <a:r>
              <a:rPr lang="en-US" sz="1350" b="1" dirty="0">
                <a:solidFill>
                  <a:srgbClr val="0033A1"/>
                </a:solidFill>
                <a:latin typeface="Calibri" pitchFamily="34" charset="0"/>
                <a:ea typeface="Calibri" pitchFamily="34" charset="-122"/>
                <a:cs typeface="Calibri" pitchFamily="34" charset="-120"/>
              </a:rPr>
              <a:t>Hold suspicious transactions, do not decline them</a:t>
            </a:r>
            <a:endParaRPr lang="en-US" sz="1350" dirty="0"/>
          </a:p>
        </p:txBody>
      </p:sp>
      <p:sp>
        <p:nvSpPr>
          <p:cNvPr id="13" name="Text 11"/>
          <p:cNvSpPr/>
          <p:nvPr/>
        </p:nvSpPr>
        <p:spPr>
          <a:xfrm>
            <a:off x="6949440" y="2157984"/>
            <a:ext cx="4480560" cy="548640"/>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Four in five alerts are genuine customers. A short hold or a one time password avoids the damage.</a:t>
            </a:r>
            <a:endParaRPr lang="en-US" sz="1150" dirty="0"/>
          </a:p>
        </p:txBody>
      </p:sp>
      <p:sp>
        <p:nvSpPr>
          <p:cNvPr id="14" name="Shape 12"/>
          <p:cNvSpPr/>
          <p:nvPr/>
        </p:nvSpPr>
        <p:spPr>
          <a:xfrm>
            <a:off x="548640" y="2999232"/>
            <a:ext cx="5440680" cy="1261872"/>
          </a:xfrm>
          <a:prstGeom prst="roundRect">
            <a:avLst>
              <a:gd name="adj" fmla="val 3623"/>
            </a:avLst>
          </a:prstGeom>
          <a:solidFill>
            <a:srgbClr val="F2F5FB"/>
          </a:solidFill>
          <a:ln w="12700">
            <a:solidFill>
              <a:srgbClr val="D5DEEF"/>
            </a:solidFill>
            <a:prstDash val="solid"/>
          </a:ln>
        </p:spPr>
        <p:txBody>
          <a:bodyPr/>
          <a:lstStyle/>
          <a:p>
            <a:endParaRPr lang="en-US"/>
          </a:p>
        </p:txBody>
      </p:sp>
      <p:sp>
        <p:nvSpPr>
          <p:cNvPr id="15" name="Text 13"/>
          <p:cNvSpPr/>
          <p:nvPr/>
        </p:nvSpPr>
        <p:spPr>
          <a:xfrm>
            <a:off x="749808" y="3182112"/>
            <a:ext cx="502920" cy="365760"/>
          </a:xfrm>
          <a:prstGeom prst="rect">
            <a:avLst/>
          </a:prstGeom>
          <a:noFill/>
          <a:ln/>
        </p:spPr>
        <p:txBody>
          <a:bodyPr wrap="square" rtlCol="0" anchor="ctr"/>
          <a:lstStyle/>
          <a:p>
            <a:pPr marL="0" indent="0">
              <a:buNone/>
            </a:pPr>
            <a:r>
              <a:rPr lang="en-US" sz="2000" b="1" dirty="0">
                <a:solidFill>
                  <a:srgbClr val="D0021B"/>
                </a:solidFill>
                <a:latin typeface="Cambria" pitchFamily="34" charset="0"/>
                <a:ea typeface="Cambria" pitchFamily="34" charset="-122"/>
                <a:cs typeface="Cambria" pitchFamily="34" charset="-120"/>
              </a:rPr>
              <a:t>03</a:t>
            </a:r>
            <a:endParaRPr lang="en-US" sz="2000" dirty="0"/>
          </a:p>
        </p:txBody>
      </p:sp>
      <p:sp>
        <p:nvSpPr>
          <p:cNvPr id="16" name="Text 14"/>
          <p:cNvSpPr/>
          <p:nvPr/>
        </p:nvSpPr>
        <p:spPr>
          <a:xfrm>
            <a:off x="1325880" y="3145536"/>
            <a:ext cx="4480560" cy="438912"/>
          </a:xfrm>
          <a:prstGeom prst="rect">
            <a:avLst/>
          </a:prstGeom>
          <a:noFill/>
          <a:ln/>
        </p:spPr>
        <p:txBody>
          <a:bodyPr wrap="square" rtlCol="0" anchor="ctr"/>
          <a:lstStyle/>
          <a:p>
            <a:pPr marL="0" indent="0">
              <a:buNone/>
            </a:pPr>
            <a:r>
              <a:rPr lang="en-US" sz="1350" b="1" dirty="0">
                <a:solidFill>
                  <a:srgbClr val="0033A1"/>
                </a:solidFill>
                <a:latin typeface="Calibri" pitchFamily="34" charset="0"/>
                <a:ea typeface="Calibri" pitchFamily="34" charset="-122"/>
                <a:cs typeface="Calibri" pitchFamily="34" charset="-120"/>
              </a:rPr>
              <a:t>Watch the quiet part of the cycle</a:t>
            </a:r>
            <a:endParaRPr lang="en-US" sz="1350" dirty="0"/>
          </a:p>
        </p:txBody>
      </p:sp>
      <p:sp>
        <p:nvSpPr>
          <p:cNvPr id="17" name="Text 15"/>
          <p:cNvSpPr/>
          <p:nvPr/>
        </p:nvSpPr>
        <p:spPr>
          <a:xfrm>
            <a:off x="1325880" y="3602736"/>
            <a:ext cx="4480560" cy="548640"/>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39 times the fraud rate in only 1.2 percent of traffic. A small team covers a lot of risk.</a:t>
            </a:r>
            <a:endParaRPr lang="en-US" sz="1150" dirty="0"/>
          </a:p>
        </p:txBody>
      </p:sp>
      <p:sp>
        <p:nvSpPr>
          <p:cNvPr id="18" name="Shape 16"/>
          <p:cNvSpPr/>
          <p:nvPr/>
        </p:nvSpPr>
        <p:spPr>
          <a:xfrm>
            <a:off x="6172200" y="2999232"/>
            <a:ext cx="5440680" cy="1261872"/>
          </a:xfrm>
          <a:prstGeom prst="roundRect">
            <a:avLst>
              <a:gd name="adj" fmla="val 3623"/>
            </a:avLst>
          </a:prstGeom>
          <a:solidFill>
            <a:srgbClr val="F2F5FB"/>
          </a:solidFill>
          <a:ln w="12700">
            <a:solidFill>
              <a:srgbClr val="D5DEEF"/>
            </a:solidFill>
            <a:prstDash val="solid"/>
          </a:ln>
        </p:spPr>
        <p:txBody>
          <a:bodyPr/>
          <a:lstStyle/>
          <a:p>
            <a:endParaRPr lang="en-US"/>
          </a:p>
        </p:txBody>
      </p:sp>
      <p:sp>
        <p:nvSpPr>
          <p:cNvPr id="19" name="Text 17"/>
          <p:cNvSpPr/>
          <p:nvPr/>
        </p:nvSpPr>
        <p:spPr>
          <a:xfrm>
            <a:off x="6373368" y="3182112"/>
            <a:ext cx="502920" cy="365760"/>
          </a:xfrm>
          <a:prstGeom prst="rect">
            <a:avLst/>
          </a:prstGeom>
          <a:noFill/>
          <a:ln/>
        </p:spPr>
        <p:txBody>
          <a:bodyPr wrap="square" rtlCol="0" anchor="ctr"/>
          <a:lstStyle/>
          <a:p>
            <a:pPr marL="0" indent="0">
              <a:buNone/>
            </a:pPr>
            <a:r>
              <a:rPr lang="en-US" sz="2000" b="1" dirty="0">
                <a:solidFill>
                  <a:srgbClr val="D0021B"/>
                </a:solidFill>
                <a:latin typeface="Cambria" pitchFamily="34" charset="0"/>
                <a:ea typeface="Cambria" pitchFamily="34" charset="-122"/>
                <a:cs typeface="Cambria" pitchFamily="34" charset="-120"/>
              </a:rPr>
              <a:t>04</a:t>
            </a:r>
            <a:endParaRPr lang="en-US" sz="2000" dirty="0"/>
          </a:p>
        </p:txBody>
      </p:sp>
      <p:sp>
        <p:nvSpPr>
          <p:cNvPr id="20" name="Text 18"/>
          <p:cNvSpPr/>
          <p:nvPr/>
        </p:nvSpPr>
        <p:spPr>
          <a:xfrm>
            <a:off x="6949440" y="3145536"/>
            <a:ext cx="4480560" cy="438912"/>
          </a:xfrm>
          <a:prstGeom prst="rect">
            <a:avLst/>
          </a:prstGeom>
          <a:noFill/>
          <a:ln/>
        </p:spPr>
        <p:txBody>
          <a:bodyPr wrap="square" rtlCol="0" anchor="ctr"/>
          <a:lstStyle/>
          <a:p>
            <a:pPr marL="0" indent="0">
              <a:buNone/>
            </a:pPr>
            <a:r>
              <a:rPr lang="en-US" sz="1350" b="1" dirty="0">
                <a:solidFill>
                  <a:srgbClr val="0033A1"/>
                </a:solidFill>
                <a:latin typeface="Calibri" pitchFamily="34" charset="0"/>
                <a:ea typeface="Calibri" pitchFamily="34" charset="-122"/>
                <a:cs typeface="Calibri" pitchFamily="34" charset="-120"/>
              </a:rPr>
              <a:t>Set the threshold from real costs</a:t>
            </a:r>
            <a:endParaRPr lang="en-US" sz="1350" dirty="0"/>
          </a:p>
        </p:txBody>
      </p:sp>
      <p:sp>
        <p:nvSpPr>
          <p:cNvPr id="21" name="Text 19"/>
          <p:cNvSpPr/>
          <p:nvPr/>
        </p:nvSpPr>
        <p:spPr>
          <a:xfrm>
            <a:off x="6949440" y="3602736"/>
            <a:ext cx="4480560" cy="548640"/>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Our R5,000 and R50 are placeholders. The dashboard recomputes the cut off live.</a:t>
            </a:r>
            <a:endParaRPr lang="en-US" sz="1150" dirty="0"/>
          </a:p>
        </p:txBody>
      </p:sp>
      <p:sp>
        <p:nvSpPr>
          <p:cNvPr id="22" name="Shape 20"/>
          <p:cNvSpPr/>
          <p:nvPr/>
        </p:nvSpPr>
        <p:spPr>
          <a:xfrm>
            <a:off x="548640" y="4443984"/>
            <a:ext cx="5440680" cy="1261872"/>
          </a:xfrm>
          <a:prstGeom prst="roundRect">
            <a:avLst>
              <a:gd name="adj" fmla="val 3623"/>
            </a:avLst>
          </a:prstGeom>
          <a:solidFill>
            <a:srgbClr val="F2F5FB"/>
          </a:solidFill>
          <a:ln w="12700">
            <a:solidFill>
              <a:srgbClr val="D5DEEF"/>
            </a:solidFill>
            <a:prstDash val="solid"/>
          </a:ln>
        </p:spPr>
        <p:txBody>
          <a:bodyPr/>
          <a:lstStyle/>
          <a:p>
            <a:endParaRPr lang="en-US"/>
          </a:p>
        </p:txBody>
      </p:sp>
      <p:sp>
        <p:nvSpPr>
          <p:cNvPr id="23" name="Text 21"/>
          <p:cNvSpPr/>
          <p:nvPr/>
        </p:nvSpPr>
        <p:spPr>
          <a:xfrm>
            <a:off x="749808" y="4626864"/>
            <a:ext cx="502920" cy="365760"/>
          </a:xfrm>
          <a:prstGeom prst="rect">
            <a:avLst/>
          </a:prstGeom>
          <a:noFill/>
          <a:ln/>
        </p:spPr>
        <p:txBody>
          <a:bodyPr wrap="square" rtlCol="0" anchor="ctr"/>
          <a:lstStyle/>
          <a:p>
            <a:pPr marL="0" indent="0">
              <a:buNone/>
            </a:pPr>
            <a:r>
              <a:rPr lang="en-US" sz="2000" b="1" dirty="0">
                <a:solidFill>
                  <a:srgbClr val="D0021B"/>
                </a:solidFill>
                <a:latin typeface="Cambria" pitchFamily="34" charset="0"/>
                <a:ea typeface="Cambria" pitchFamily="34" charset="-122"/>
                <a:cs typeface="Cambria" pitchFamily="34" charset="-120"/>
              </a:rPr>
              <a:t>05</a:t>
            </a:r>
            <a:endParaRPr lang="en-US" sz="2000" dirty="0"/>
          </a:p>
        </p:txBody>
      </p:sp>
      <p:sp>
        <p:nvSpPr>
          <p:cNvPr id="24" name="Text 22"/>
          <p:cNvSpPr/>
          <p:nvPr/>
        </p:nvSpPr>
        <p:spPr>
          <a:xfrm>
            <a:off x="1325880" y="4590288"/>
            <a:ext cx="4480560" cy="438912"/>
          </a:xfrm>
          <a:prstGeom prst="rect">
            <a:avLst/>
          </a:prstGeom>
          <a:noFill/>
          <a:ln/>
        </p:spPr>
        <p:txBody>
          <a:bodyPr wrap="square" rtlCol="0" anchor="ctr"/>
          <a:lstStyle/>
          <a:p>
            <a:pPr marL="0" indent="0">
              <a:buNone/>
            </a:pPr>
            <a:r>
              <a:rPr lang="en-US" sz="1350" b="1" dirty="0">
                <a:solidFill>
                  <a:srgbClr val="0033A1"/>
                </a:solidFill>
                <a:latin typeface="Calibri" pitchFamily="34" charset="0"/>
                <a:ea typeface="Calibri" pitchFamily="34" charset="-122"/>
                <a:cs typeface="Calibri" pitchFamily="34" charset="-120"/>
              </a:rPr>
              <a:t>Revalidate on real data before relying on the numbers</a:t>
            </a:r>
            <a:endParaRPr lang="en-US" sz="1350" dirty="0"/>
          </a:p>
        </p:txBody>
      </p:sp>
      <p:sp>
        <p:nvSpPr>
          <p:cNvPr id="25" name="Text 23"/>
          <p:cNvSpPr/>
          <p:nvPr/>
        </p:nvSpPr>
        <p:spPr>
          <a:xfrm>
            <a:off x="1325880" y="5047488"/>
            <a:ext cx="4480560" cy="548640"/>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The balance features are far more predictive here than they will be in production.</a:t>
            </a:r>
            <a:endParaRPr lang="en-US" sz="1150" dirty="0"/>
          </a:p>
        </p:txBody>
      </p:sp>
      <p:sp>
        <p:nvSpPr>
          <p:cNvPr id="26" name="Shape 24"/>
          <p:cNvSpPr/>
          <p:nvPr/>
        </p:nvSpPr>
        <p:spPr>
          <a:xfrm>
            <a:off x="6172200" y="4443984"/>
            <a:ext cx="5440680" cy="1261872"/>
          </a:xfrm>
          <a:prstGeom prst="roundRect">
            <a:avLst>
              <a:gd name="adj" fmla="val 3623"/>
            </a:avLst>
          </a:prstGeom>
          <a:solidFill>
            <a:srgbClr val="F2F5FB"/>
          </a:solidFill>
          <a:ln w="12700">
            <a:solidFill>
              <a:srgbClr val="D5DEEF"/>
            </a:solidFill>
            <a:prstDash val="solid"/>
          </a:ln>
        </p:spPr>
        <p:txBody>
          <a:bodyPr/>
          <a:lstStyle/>
          <a:p>
            <a:endParaRPr lang="en-US"/>
          </a:p>
        </p:txBody>
      </p:sp>
      <p:sp>
        <p:nvSpPr>
          <p:cNvPr id="27" name="Text 25"/>
          <p:cNvSpPr/>
          <p:nvPr/>
        </p:nvSpPr>
        <p:spPr>
          <a:xfrm>
            <a:off x="6373368" y="4626864"/>
            <a:ext cx="502920" cy="365760"/>
          </a:xfrm>
          <a:prstGeom prst="rect">
            <a:avLst/>
          </a:prstGeom>
          <a:noFill/>
          <a:ln/>
        </p:spPr>
        <p:txBody>
          <a:bodyPr wrap="square" rtlCol="0" anchor="ctr"/>
          <a:lstStyle/>
          <a:p>
            <a:pPr marL="0" indent="0">
              <a:buNone/>
            </a:pPr>
            <a:r>
              <a:rPr lang="en-US" sz="2000" b="1" dirty="0">
                <a:solidFill>
                  <a:srgbClr val="D0021B"/>
                </a:solidFill>
                <a:latin typeface="Cambria" pitchFamily="34" charset="0"/>
                <a:ea typeface="Cambria" pitchFamily="34" charset="-122"/>
                <a:cs typeface="Cambria" pitchFamily="34" charset="-120"/>
              </a:rPr>
              <a:t>06</a:t>
            </a:r>
            <a:endParaRPr lang="en-US" sz="2000" dirty="0"/>
          </a:p>
        </p:txBody>
      </p:sp>
      <p:sp>
        <p:nvSpPr>
          <p:cNvPr id="28" name="Text 26"/>
          <p:cNvSpPr/>
          <p:nvPr/>
        </p:nvSpPr>
        <p:spPr>
          <a:xfrm>
            <a:off x="6949440" y="4590288"/>
            <a:ext cx="4480560" cy="438912"/>
          </a:xfrm>
          <a:prstGeom prst="rect">
            <a:avLst/>
          </a:prstGeom>
          <a:noFill/>
          <a:ln/>
        </p:spPr>
        <p:txBody>
          <a:bodyPr wrap="square" rtlCol="0" anchor="ctr"/>
          <a:lstStyle/>
          <a:p>
            <a:pPr marL="0" indent="0">
              <a:buNone/>
            </a:pPr>
            <a:r>
              <a:rPr lang="en-US" sz="1350" b="1" dirty="0">
                <a:solidFill>
                  <a:srgbClr val="0033A1"/>
                </a:solidFill>
                <a:latin typeface="Calibri" pitchFamily="34" charset="0"/>
                <a:ea typeface="Calibri" pitchFamily="34" charset="-122"/>
                <a:cs typeface="Calibri" pitchFamily="34" charset="-120"/>
              </a:rPr>
              <a:t>Monitor for drift</a:t>
            </a:r>
            <a:endParaRPr lang="en-US" sz="1350" dirty="0"/>
          </a:p>
        </p:txBody>
      </p:sp>
      <p:sp>
        <p:nvSpPr>
          <p:cNvPr id="29" name="Text 27"/>
          <p:cNvSpPr/>
          <p:nvPr/>
        </p:nvSpPr>
        <p:spPr>
          <a:xfrm>
            <a:off x="6949440" y="5047488"/>
            <a:ext cx="4480560" cy="548640"/>
          </a:xfrm>
          <a:prstGeom prst="rect">
            <a:avLst/>
          </a:prstGeom>
          <a:noFill/>
          <a:ln/>
        </p:spPr>
        <p:txBody>
          <a:bodyPr wrap="square" rtlCol="0" anchor="ctr"/>
          <a:lstStyle/>
          <a:p>
            <a:pPr marL="0" indent="0">
              <a:buNone/>
            </a:pPr>
            <a:r>
              <a:rPr lang="en-US" sz="1150" dirty="0">
                <a:solidFill>
                  <a:srgbClr val="4A4F57"/>
                </a:solidFill>
                <a:latin typeface="Calibri" pitchFamily="34" charset="0"/>
                <a:ea typeface="Calibri" pitchFamily="34" charset="-122"/>
                <a:cs typeface="Calibri" pitchFamily="34" charset="-120"/>
              </a:rPr>
              <a:t>Track alert volume, confirmed fraud share and score distribution weekly.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33A1"/>
        </a:solidFill>
        <a:effectLst/>
      </p:bgPr>
    </p:bg>
    <p:spTree>
      <p:nvGrpSpPr>
        <p:cNvPr id="1" name=""/>
        <p:cNvGrpSpPr/>
        <p:nvPr/>
      </p:nvGrpSpPr>
      <p:grpSpPr>
        <a:xfrm>
          <a:off x="0" y="0"/>
          <a:ext cx="0" cy="0"/>
          <a:chOff x="0" y="0"/>
          <a:chExt cx="0" cy="0"/>
        </a:xfrm>
      </p:grpSpPr>
      <p:sp>
        <p:nvSpPr>
          <p:cNvPr id="2" name="Text 0"/>
          <p:cNvSpPr/>
          <p:nvPr/>
        </p:nvSpPr>
        <p:spPr>
          <a:xfrm>
            <a:off x="914400" y="914400"/>
            <a:ext cx="9144000" cy="274320"/>
          </a:xfrm>
          <a:prstGeom prst="rect">
            <a:avLst/>
          </a:prstGeom>
          <a:noFill/>
          <a:ln/>
        </p:spPr>
        <p:txBody>
          <a:bodyPr wrap="square" rtlCol="0" anchor="ctr"/>
          <a:lstStyle/>
          <a:p>
            <a:pPr marL="0" indent="0">
              <a:buNone/>
            </a:pPr>
            <a:r>
              <a:rPr lang="en-US" sz="1300" b="1" kern="0" spc="200" dirty="0">
                <a:solidFill>
                  <a:srgbClr val="A8C0F0"/>
                </a:solidFill>
                <a:latin typeface="Calibri" pitchFamily="34" charset="0"/>
                <a:ea typeface="Calibri" pitchFamily="34" charset="-122"/>
                <a:cs typeface="Calibri" pitchFamily="34" charset="-120"/>
              </a:rPr>
              <a:t>WHAT WE DELIVERED</a:t>
            </a:r>
            <a:endParaRPr lang="en-US" sz="1300" dirty="0"/>
          </a:p>
        </p:txBody>
      </p:sp>
      <p:sp>
        <p:nvSpPr>
          <p:cNvPr id="3" name="Text 1"/>
          <p:cNvSpPr/>
          <p:nvPr/>
        </p:nvSpPr>
        <p:spPr>
          <a:xfrm>
            <a:off x="914400" y="1325880"/>
            <a:ext cx="10515600" cy="68580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 model the bank could actually run</a:t>
            </a:r>
            <a:endParaRPr lang="en-US" sz="3600" dirty="0"/>
          </a:p>
        </p:txBody>
      </p:sp>
      <p:sp>
        <p:nvSpPr>
          <p:cNvPr id="4" name="Shape 2"/>
          <p:cNvSpPr/>
          <p:nvPr/>
        </p:nvSpPr>
        <p:spPr>
          <a:xfrm>
            <a:off x="914400" y="2377440"/>
            <a:ext cx="3246120" cy="1554480"/>
          </a:xfrm>
          <a:prstGeom prst="roundRect">
            <a:avLst>
              <a:gd name="adj" fmla="val 2941"/>
            </a:avLst>
          </a:prstGeom>
          <a:solidFill>
            <a:srgbClr val="002478"/>
          </a:solidFill>
          <a:ln w="12700">
            <a:solidFill>
              <a:srgbClr val="2E5BBF"/>
            </a:solidFill>
            <a:prstDash val="solid"/>
          </a:ln>
        </p:spPr>
        <p:txBody>
          <a:bodyPr/>
          <a:lstStyle/>
          <a:p>
            <a:endParaRPr lang="en-US"/>
          </a:p>
        </p:txBody>
      </p:sp>
      <p:sp>
        <p:nvSpPr>
          <p:cNvPr id="5" name="Text 3"/>
          <p:cNvSpPr/>
          <p:nvPr/>
        </p:nvSpPr>
        <p:spPr>
          <a:xfrm>
            <a:off x="1143000" y="2560320"/>
            <a:ext cx="278892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Reproducible notebook</a:t>
            </a:r>
            <a:endParaRPr lang="en-US" sz="1500" dirty="0"/>
          </a:p>
        </p:txBody>
      </p:sp>
      <p:sp>
        <p:nvSpPr>
          <p:cNvPr id="6" name="Text 4"/>
          <p:cNvSpPr/>
          <p:nvPr/>
        </p:nvSpPr>
        <p:spPr>
          <a:xfrm>
            <a:off x="1143000" y="2926080"/>
            <a:ext cx="2788920" cy="822960"/>
          </a:xfrm>
          <a:prstGeom prst="rect">
            <a:avLst/>
          </a:prstGeom>
          <a:noFill/>
          <a:ln/>
        </p:spPr>
        <p:txBody>
          <a:bodyPr wrap="square" rtlCol="0" anchor="ctr"/>
          <a:lstStyle/>
          <a:p>
            <a:pPr marL="0" indent="0">
              <a:buNone/>
            </a:pPr>
            <a:r>
              <a:rPr lang="en-US" sz="1150" dirty="0">
                <a:solidFill>
                  <a:srgbClr val="C7D6F2"/>
                </a:solidFill>
                <a:latin typeface="Calibri" pitchFamily="34" charset="0"/>
                <a:ea typeface="Calibri" pitchFamily="34" charset="-122"/>
                <a:cs typeface="Calibri" pitchFamily="34" charset="-120"/>
              </a:rPr>
              <a:t>Full pipeline, commented, from raw data to saved model</a:t>
            </a:r>
            <a:endParaRPr lang="en-US" sz="1150" dirty="0"/>
          </a:p>
        </p:txBody>
      </p:sp>
      <p:sp>
        <p:nvSpPr>
          <p:cNvPr id="7" name="Shape 5"/>
          <p:cNvSpPr/>
          <p:nvPr/>
        </p:nvSpPr>
        <p:spPr>
          <a:xfrm>
            <a:off x="4434840" y="2377440"/>
            <a:ext cx="3246120" cy="1554480"/>
          </a:xfrm>
          <a:prstGeom prst="roundRect">
            <a:avLst>
              <a:gd name="adj" fmla="val 2941"/>
            </a:avLst>
          </a:prstGeom>
          <a:solidFill>
            <a:srgbClr val="002478"/>
          </a:solidFill>
          <a:ln w="12700">
            <a:solidFill>
              <a:srgbClr val="2E5BBF"/>
            </a:solidFill>
            <a:prstDash val="solid"/>
          </a:ln>
        </p:spPr>
        <p:txBody>
          <a:bodyPr/>
          <a:lstStyle/>
          <a:p>
            <a:endParaRPr lang="en-US"/>
          </a:p>
        </p:txBody>
      </p:sp>
      <p:sp>
        <p:nvSpPr>
          <p:cNvPr id="8" name="Text 6"/>
          <p:cNvSpPr/>
          <p:nvPr/>
        </p:nvSpPr>
        <p:spPr>
          <a:xfrm>
            <a:off x="4663440" y="2560320"/>
            <a:ext cx="278892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Interactive dashboard</a:t>
            </a:r>
            <a:endParaRPr lang="en-US" sz="1500" dirty="0"/>
          </a:p>
        </p:txBody>
      </p:sp>
      <p:sp>
        <p:nvSpPr>
          <p:cNvPr id="9" name="Text 7"/>
          <p:cNvSpPr/>
          <p:nvPr/>
        </p:nvSpPr>
        <p:spPr>
          <a:xfrm>
            <a:off x="4663440" y="2926080"/>
            <a:ext cx="2788920" cy="822960"/>
          </a:xfrm>
          <a:prstGeom prst="rect">
            <a:avLst/>
          </a:prstGeom>
          <a:noFill/>
          <a:ln/>
        </p:spPr>
        <p:txBody>
          <a:bodyPr wrap="square" rtlCol="0" anchor="ctr"/>
          <a:lstStyle/>
          <a:p>
            <a:pPr marL="0" indent="0">
              <a:buNone/>
            </a:pPr>
            <a:r>
              <a:rPr lang="en-US" sz="1150" dirty="0">
                <a:solidFill>
                  <a:srgbClr val="C7D6F2"/>
                </a:solidFill>
                <a:latin typeface="Calibri" pitchFamily="34" charset="0"/>
                <a:ea typeface="Calibri" pitchFamily="34" charset="-122"/>
                <a:cs typeface="Calibri" pitchFamily="34" charset="-120"/>
              </a:rPr>
              <a:t>Explore the data, score a live transaction, price the threshold</a:t>
            </a:r>
            <a:endParaRPr lang="en-US" sz="1150" dirty="0"/>
          </a:p>
        </p:txBody>
      </p:sp>
      <p:sp>
        <p:nvSpPr>
          <p:cNvPr id="10" name="Shape 8"/>
          <p:cNvSpPr/>
          <p:nvPr/>
        </p:nvSpPr>
        <p:spPr>
          <a:xfrm>
            <a:off x="7955280" y="2377440"/>
            <a:ext cx="3246120" cy="1554480"/>
          </a:xfrm>
          <a:prstGeom prst="roundRect">
            <a:avLst>
              <a:gd name="adj" fmla="val 2941"/>
            </a:avLst>
          </a:prstGeom>
          <a:solidFill>
            <a:srgbClr val="002478"/>
          </a:solidFill>
          <a:ln w="12700">
            <a:solidFill>
              <a:srgbClr val="2E5BBF"/>
            </a:solidFill>
            <a:prstDash val="solid"/>
          </a:ln>
        </p:spPr>
        <p:txBody>
          <a:bodyPr/>
          <a:lstStyle/>
          <a:p>
            <a:endParaRPr lang="en-US"/>
          </a:p>
        </p:txBody>
      </p:sp>
      <p:sp>
        <p:nvSpPr>
          <p:cNvPr id="11" name="Text 9"/>
          <p:cNvSpPr/>
          <p:nvPr/>
        </p:nvSpPr>
        <p:spPr>
          <a:xfrm>
            <a:off x="8183880" y="2560320"/>
            <a:ext cx="278892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Modelling report</a:t>
            </a:r>
            <a:endParaRPr lang="en-US" sz="1500" dirty="0"/>
          </a:p>
        </p:txBody>
      </p:sp>
      <p:sp>
        <p:nvSpPr>
          <p:cNvPr id="12" name="Text 10"/>
          <p:cNvSpPr/>
          <p:nvPr/>
        </p:nvSpPr>
        <p:spPr>
          <a:xfrm>
            <a:off x="8183880" y="2926080"/>
            <a:ext cx="2788920" cy="822960"/>
          </a:xfrm>
          <a:prstGeom prst="rect">
            <a:avLst/>
          </a:prstGeom>
          <a:noFill/>
          <a:ln/>
        </p:spPr>
        <p:txBody>
          <a:bodyPr wrap="square" rtlCol="0" anchor="ctr"/>
          <a:lstStyle/>
          <a:p>
            <a:pPr marL="0" indent="0">
              <a:buNone/>
            </a:pPr>
            <a:r>
              <a:rPr lang="en-US" sz="1150" dirty="0">
                <a:solidFill>
                  <a:srgbClr val="C7D6F2"/>
                </a:solidFill>
                <a:latin typeface="Calibri" pitchFamily="34" charset="0"/>
                <a:ea typeface="Calibri" pitchFamily="34" charset="-122"/>
                <a:cs typeface="Calibri" pitchFamily="34" charset="-120"/>
              </a:rPr>
              <a:t>Ten pages: decisions, experiments, results and recommendations</a:t>
            </a:r>
            <a:endParaRPr lang="en-US" sz="1150" dirty="0"/>
          </a:p>
        </p:txBody>
      </p:sp>
      <p:sp>
        <p:nvSpPr>
          <p:cNvPr id="13" name="Text 11"/>
          <p:cNvSpPr/>
          <p:nvPr/>
        </p:nvSpPr>
        <p:spPr>
          <a:xfrm>
            <a:off x="914400" y="4297680"/>
            <a:ext cx="10424160" cy="8229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finding we would put first:  </a:t>
            </a:r>
            <a:r>
              <a:rPr lang="en-US" sz="1400" dirty="0">
                <a:solidFill>
                  <a:srgbClr val="D7E2F7"/>
                </a:solidFill>
                <a:latin typeface="Calibri" pitchFamily="34" charset="0"/>
                <a:ea typeface="Calibri" pitchFamily="34" charset="-122"/>
                <a:cs typeface="Calibri" pitchFamily="34" charset="-120"/>
              </a:rPr>
              <a:t>this dataset can be solved to near perfect scores by exploiting an artifact of how it was built. We measured that shortcut, reported it openly, and built the model without it.</a:t>
            </a:r>
            <a:endParaRPr lang="en-US" sz="1400" dirty="0"/>
          </a:p>
        </p:txBody>
      </p:sp>
      <p:sp>
        <p:nvSpPr>
          <p:cNvPr id="14" name="Shape 12"/>
          <p:cNvSpPr/>
          <p:nvPr/>
        </p:nvSpPr>
        <p:spPr>
          <a:xfrm>
            <a:off x="914400" y="5349240"/>
            <a:ext cx="2926080" cy="0"/>
          </a:xfrm>
          <a:prstGeom prst="line">
            <a:avLst/>
          </a:prstGeom>
          <a:noFill/>
          <a:ln w="38100">
            <a:solidFill>
              <a:srgbClr val="D0021B"/>
            </a:solidFill>
            <a:prstDash val="solid"/>
          </a:ln>
        </p:spPr>
        <p:txBody>
          <a:bodyPr/>
          <a:lstStyle/>
          <a:p>
            <a:endParaRPr lang="en-US"/>
          </a:p>
        </p:txBody>
      </p:sp>
      <p:sp>
        <p:nvSpPr>
          <p:cNvPr id="15" name="Text 13"/>
          <p:cNvSpPr/>
          <p:nvPr/>
        </p:nvSpPr>
        <p:spPr>
          <a:xfrm>
            <a:off x="914400" y="5486400"/>
            <a:ext cx="5486400" cy="41148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FinTech Titans</a:t>
            </a:r>
            <a:endParaRPr lang="en-US" sz="2400" dirty="0"/>
          </a:p>
        </p:txBody>
      </p:sp>
      <p:sp>
        <p:nvSpPr>
          <p:cNvPr id="16" name="Text 14"/>
          <p:cNvSpPr/>
          <p:nvPr/>
        </p:nvSpPr>
        <p:spPr>
          <a:xfrm>
            <a:off x="6400800" y="5559552"/>
            <a:ext cx="4937760" cy="365760"/>
          </a:xfrm>
          <a:prstGeom prst="rect">
            <a:avLst/>
          </a:prstGeom>
          <a:noFill/>
          <a:ln/>
        </p:spPr>
        <p:txBody>
          <a:bodyPr wrap="square" rtlCol="0" anchor="ctr"/>
          <a:lstStyle/>
          <a:p>
            <a:pPr marL="0" indent="0" algn="r">
              <a:buNone/>
            </a:pPr>
            <a:r>
              <a:rPr lang="en-US" sz="1600" dirty="0">
                <a:solidFill>
                  <a:srgbClr val="D7E2F7"/>
                </a:solidFill>
                <a:latin typeface="Calibri" pitchFamily="34" charset="0"/>
                <a:ea typeface="Calibri" pitchFamily="34" charset="-122"/>
                <a:cs typeface="Calibri" pitchFamily="34" charset="-120"/>
              </a:rPr>
              <a:t>Thank you. 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1724</Words>
  <Application>Microsoft Office PowerPoint</Application>
  <PresentationFormat>Widescreen</PresentationFormat>
  <Paragraphs>210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FinTech Titans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Catching Fraud in Mobile Money</dc:title>
  <dc:subject>PptxGenJS Presentation</dc:subject>
  <dc:creator>FinTech Titans</dc:creator>
  <cp:lastModifiedBy>Thabiso Lekwadu</cp:lastModifiedBy>
  <cp:revision>3</cp:revision>
  <dcterms:created xsi:type="dcterms:W3CDTF">2026-07-26T07:51:20Z</dcterms:created>
  <dcterms:modified xsi:type="dcterms:W3CDTF">2026-07-26T11:14:37Z</dcterms:modified>
</cp:coreProperties>
</file>